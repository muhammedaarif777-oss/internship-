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 am J. Muhammed Aarif. My internship topic is building a medical chatbot using RAG architecture with a Cohere language model. This presentation explains the problem, proposed design, technologies, workflow, safety considerations, and evaluation plan.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begin with the problem and objectives, explain the technologies, then walk through the proposed architecture and safety approach before concluding.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internship organisation was Astonish Infotech Pvt. Ltd. in Trichy, and the internship period on the certificate is 1 June to 30 June 2026. The recorded project topic is the medical chatbot using RAG and Cohere LLM.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is a proposed medical information chatbot. It is designed to help users locate general educational information, not to replace doctors. The report presents the design and illustrative implementation material rather than verified execution results.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problem is that medical documents can be lengthy, keyword search can miss related wording, and language models may hallucinate. The proposed approach combines retrieval with generation to make responses more grounded.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objectives cover the document pipeline, semantic retrieval, grounded answer generation, safe fallback behaviour, and a clear evaluation plan.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scope is intentionally limited to general educational information. It does not diagnose, prescribe, interpret emergencies, or replace professional medical care.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is the main concept. LLM means large language model. Embeddings turn text into numeric vectors, and semantic search uses those vectors to find meaning-related passages. Cohere is the language-model service proposed for answer generation.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has two main stages: retrieval and generation. The system first finds relevant passages from an approved knowledge base. Those passages are then supplied to the language model as context. RAG can improve grounding, but it does not guarantee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proposed architecture. The user sends a question through a web interface. The Flask/Python layer passes it to a retriever, which searches the prepared vector index. The relevant passages are included in a prompt to Cohere, and the drafted response is returned to the interface. The document index is prepared separately.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 question can be answered, documents must be collected, extracted, cleaned, split into chunks, embedded, and indexed. Source quality and chunk design strongly affect retrieval quality.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question time, the system embeds the question, retrieves relevant passages, builds a prompt containing those passages, and asks Cohere to draft an answer. If there is not enough context, the safe behaviour is to say the information is unavailable.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 describes a proposed stack: HTML and CSS for the interface, Python and Flask for the application, a PDF extraction component for document text, embeddings and a vector index for retrieval, Cohere for generation, and a RAG pipeline to coordinate the steps. Exact versions and dependencies must be selected and tested during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prompt should tell the model to use only the supplied context, admit when context is insufficient, avoid diagnosis and prescriptions, and recommend a qualified professional for personal medical decisions.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Medical applications require extra care. Use reviewed sources, protect privacy, keep API keys secret, and clearly state that the chatbot does not replace professional care. Clinical, privacy, security and regulatory review would be needed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 proposes testing retrieval relevance, faithfulness to sources, clarity, and safe refusal. The test-record sheet should be filled only after running the application; the draft does not claim measured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proposed test cases, not completed test results. They cover an ordinary educational question, missing source coverage, diagnosis requests, medication questions, urgent symptoms, and empty input.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reduces some risks but does not eliminate them. Retrieval can fail, generation can still hallucinate, and the system inherits limitations from its source documents. Technical integration and clinical review are also necessary.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work includes improving retrieval, showing citations, conducting more systematic testing, improving usability, strengthening safeguards, and getting appropriate expert review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RAG combines retrieval with generation to make responses more grounded in approved material. Cohere is proposed for generating concise answers from the retrieved context. The design must be implemented, evaluated, and reviewed before making claims about performance or deployment. Thank you. I am ready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F3A"/>
        </a:solidFill>
        <a:effectLst/>
      </p:bgPr>
    </p:bg>
    <p:spTree>
      <p:nvGrpSpPr>
        <p:cNvPr id="1" name=""/>
        <p:cNvGrpSpPr/>
        <p:nvPr/>
      </p:nvGrpSpPr>
      <p:grpSpPr/>
      <p:sp>
        <p:nvSpPr>
          <p:cNvPr id="2" name="Oval 1"/>
          <p:cNvSpPr/>
          <p:nvPr/>
        </p:nvSpPr>
        <p:spPr>
          <a:xfrm>
            <a:off x="8869680" y="-731520"/>
            <a:ext cx="4206240" cy="4206240"/>
          </a:xfrm>
          <a:prstGeom prst="ellipse">
            <a:avLst/>
          </a:prstGeom>
          <a:solidFill>
            <a:srgbClr val="182F52"/>
          </a:solidFill>
          <a:ln>
            <a:solidFill>
              <a:srgbClr val="182F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46920" y="4114800"/>
            <a:ext cx="3383280" cy="3383280"/>
          </a:xfrm>
          <a:prstGeom prst="ellipse">
            <a:avLst/>
          </a:prstGeom>
          <a:solidFill>
            <a:srgbClr val="15465E"/>
          </a:solidFill>
          <a:ln>
            <a:solidFill>
              <a:srgbClr val="1546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26679" y="1417320"/>
            <a:ext cx="3474720" cy="3520440"/>
          </a:xfrm>
          <a:prstGeom prst="roundRect">
            <a:avLst/>
          </a:prstGeom>
          <a:solidFill>
            <a:srgbClr val="193456"/>
          </a:solidFill>
          <a:ln>
            <a:solidFill>
              <a:srgbClr val="2D4F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0" y="1737360"/>
            <a:ext cx="2743200" cy="411480"/>
          </a:xfrm>
          <a:prstGeom prst="rect">
            <a:avLst/>
          </a:prstGeom>
          <a:noFill/>
        </p:spPr>
        <p:txBody>
          <a:bodyPr wrap="square" lIns="27432" rIns="27432" tIns="27432" bIns="27432" anchor="t">
            <a:spAutoFit/>
          </a:bodyPr>
          <a:lstStyle/>
          <a:p>
            <a:pPr algn="ctr">
              <a:spcAft>
                <a:spcPts val="0"/>
              </a:spcAft>
            </a:pPr>
            <a:r>
              <a:rPr sz="1700" b="1" i="0">
                <a:solidFill>
                  <a:srgbClr val="69DAE1"/>
                </a:solidFill>
                <a:latin typeface="Aptos"/>
              </a:rPr>
              <a:t>CAREBOT</a:t>
            </a:r>
          </a:p>
        </p:txBody>
      </p:sp>
      <p:sp>
        <p:nvSpPr>
          <p:cNvPr id="6" name="Rounded Rectangle 5"/>
          <p:cNvSpPr/>
          <p:nvPr/>
        </p:nvSpPr>
        <p:spPr>
          <a:xfrm>
            <a:off x="8458200" y="2423160"/>
            <a:ext cx="2011680" cy="1188720"/>
          </a:xfrm>
          <a:prstGeom prst="round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235440" y="3429000"/>
            <a:ext cx="320040" cy="411480"/>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15400" y="2542032"/>
            <a:ext cx="1097280" cy="822960"/>
          </a:xfrm>
          <a:prstGeom prst="rect">
            <a:avLst/>
          </a:prstGeom>
          <a:noFill/>
        </p:spPr>
        <p:txBody>
          <a:bodyPr wrap="square" lIns="27432" rIns="27432" tIns="27432" bIns="27432" anchor="ctr">
            <a:spAutoFit/>
          </a:bodyPr>
          <a:lstStyle/>
          <a:p>
            <a:pPr algn="ctr">
              <a:spcAft>
                <a:spcPts val="0"/>
              </a:spcAft>
            </a:pPr>
            <a:r>
              <a:rPr sz="4400" b="1" i="0">
                <a:solidFill>
                  <a:srgbClr val="FFFFFF"/>
                </a:solidFill>
                <a:latin typeface="Aptos"/>
              </a:rPr>
              <a:t>+</a:t>
            </a:r>
          </a:p>
        </p:txBody>
      </p:sp>
      <p:sp>
        <p:nvSpPr>
          <p:cNvPr id="9" name="TextBox 8"/>
          <p:cNvSpPr txBox="1"/>
          <p:nvPr/>
        </p:nvSpPr>
        <p:spPr>
          <a:xfrm>
            <a:off x="731520" y="658368"/>
            <a:ext cx="5852160" cy="292608"/>
          </a:xfrm>
          <a:prstGeom prst="rect">
            <a:avLst/>
          </a:prstGeom>
          <a:noFill/>
        </p:spPr>
        <p:txBody>
          <a:bodyPr wrap="square" lIns="27432" rIns="27432" tIns="27432" bIns="27432" anchor="t">
            <a:spAutoFit/>
          </a:bodyPr>
          <a:lstStyle/>
          <a:p>
            <a:pPr algn="l">
              <a:spcAft>
                <a:spcPts val="0"/>
              </a:spcAft>
            </a:pPr>
            <a:r>
              <a:rPr sz="1200" b="1" i="0">
                <a:solidFill>
                  <a:srgbClr val="69DAE1"/>
                </a:solidFill>
                <a:latin typeface="Aptos"/>
              </a:rPr>
              <a:t>INTERNSHIP PROJECT REVIEW</a:t>
            </a:r>
          </a:p>
        </p:txBody>
      </p:sp>
      <p:sp>
        <p:nvSpPr>
          <p:cNvPr id="10" name="TextBox 9"/>
          <p:cNvSpPr txBox="1"/>
          <p:nvPr/>
        </p:nvSpPr>
        <p:spPr>
          <a:xfrm>
            <a:off x="731520" y="1234440"/>
            <a:ext cx="6675120" cy="2011680"/>
          </a:xfrm>
          <a:prstGeom prst="rect">
            <a:avLst/>
          </a:prstGeom>
          <a:noFill/>
        </p:spPr>
        <p:txBody>
          <a:bodyPr wrap="square" lIns="27432" rIns="27432" tIns="27432" bIns="27432" anchor="t">
            <a:spAutoFit/>
          </a:bodyPr>
          <a:lstStyle/>
          <a:p>
            <a:pPr algn="l">
              <a:spcAft>
                <a:spcPts val="0"/>
              </a:spcAft>
            </a:pPr>
            <a:r>
              <a:rPr sz="3100" b="1" i="0">
                <a:solidFill>
                  <a:srgbClr val="FFFFFF"/>
                </a:solidFill>
                <a:latin typeface="Aptos"/>
              </a:rPr>
              <a:t>Build a Medical Chatbot
Using RAG Architecture
with Cohere LLM</a:t>
            </a:r>
          </a:p>
        </p:txBody>
      </p:sp>
      <p:sp>
        <p:nvSpPr>
          <p:cNvPr id="11" name="Rectangle 10"/>
          <p:cNvSpPr/>
          <p:nvPr/>
        </p:nvSpPr>
        <p:spPr>
          <a:xfrm>
            <a:off x="749808" y="3456432"/>
            <a:ext cx="822960" cy="64008"/>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3794760"/>
            <a:ext cx="5943600" cy="365760"/>
          </a:xfrm>
          <a:prstGeom prst="rect">
            <a:avLst/>
          </a:prstGeom>
          <a:noFill/>
        </p:spPr>
        <p:txBody>
          <a:bodyPr wrap="square" lIns="27432" rIns="27432" tIns="27432" bIns="27432" anchor="t">
            <a:spAutoFit/>
          </a:bodyPr>
          <a:lstStyle/>
          <a:p>
            <a:pPr algn="l">
              <a:spcAft>
                <a:spcPts val="0"/>
              </a:spcAft>
            </a:pPr>
            <a:r>
              <a:rPr sz="1700" b="1" i="0">
                <a:solidFill>
                  <a:srgbClr val="FFFFFF"/>
                </a:solidFill>
                <a:latin typeface="Aptos"/>
              </a:rPr>
              <a:t>Presented by J. Muhammed Aarif</a:t>
            </a:r>
          </a:p>
        </p:txBody>
      </p:sp>
      <p:sp>
        <p:nvSpPr>
          <p:cNvPr id="13" name="TextBox 12"/>
          <p:cNvSpPr txBox="1"/>
          <p:nvPr/>
        </p:nvSpPr>
        <p:spPr>
          <a:xfrm>
            <a:off x="749808" y="4233672"/>
            <a:ext cx="5029200" cy="320040"/>
          </a:xfrm>
          <a:prstGeom prst="rect">
            <a:avLst/>
          </a:prstGeom>
          <a:noFill/>
        </p:spPr>
        <p:txBody>
          <a:bodyPr wrap="square" lIns="27432" rIns="27432" tIns="27432" bIns="27432" anchor="t">
            <a:spAutoFit/>
          </a:bodyPr>
          <a:lstStyle/>
          <a:p>
            <a:pPr algn="l">
              <a:spcAft>
                <a:spcPts val="0"/>
              </a:spcAft>
            </a:pPr>
            <a:r>
              <a:rPr sz="1400" b="0" i="0">
                <a:solidFill>
                  <a:srgbClr val="CDDAE9"/>
                </a:solidFill>
                <a:latin typeface="Aptos"/>
              </a:rPr>
              <a:t>Register No. 810023205044</a:t>
            </a:r>
          </a:p>
        </p:txBody>
      </p:sp>
      <p:sp>
        <p:nvSpPr>
          <p:cNvPr id="14" name="TextBox 13"/>
          <p:cNvSpPr txBox="1"/>
          <p:nvPr/>
        </p:nvSpPr>
        <p:spPr>
          <a:xfrm>
            <a:off x="749808" y="4800600"/>
            <a:ext cx="6217920" cy="658368"/>
          </a:xfrm>
          <a:prstGeom prst="rect">
            <a:avLst/>
          </a:prstGeom>
          <a:noFill/>
        </p:spPr>
        <p:txBody>
          <a:bodyPr wrap="square" lIns="27432" rIns="27432" tIns="27432" bIns="27432" anchor="t">
            <a:spAutoFit/>
          </a:bodyPr>
          <a:lstStyle/>
          <a:p>
            <a:pPr algn="l">
              <a:spcAft>
                <a:spcPts val="0"/>
              </a:spcAft>
            </a:pPr>
            <a:r>
              <a:rPr sz="1300" b="0" i="0">
                <a:solidFill>
                  <a:srgbClr val="CDDAE9"/>
                </a:solidFill>
                <a:latin typeface="Aptos"/>
              </a:rPr>
              <a:t>B.Tech – Information Technology  |  Semester VII
UCE, BIT Campus, Anna University, Tiruchirappalli</a:t>
            </a:r>
          </a:p>
        </p:txBody>
      </p:sp>
      <p:sp>
        <p:nvSpPr>
          <p:cNvPr id="15" name="TextBox 14"/>
          <p:cNvSpPr txBox="1"/>
          <p:nvPr/>
        </p:nvSpPr>
        <p:spPr>
          <a:xfrm>
            <a:off x="749808" y="5989320"/>
            <a:ext cx="6675120" cy="274320"/>
          </a:xfrm>
          <a:prstGeom prst="rect">
            <a:avLst/>
          </a:prstGeom>
          <a:noFill/>
        </p:spPr>
        <p:txBody>
          <a:bodyPr wrap="square" lIns="27432" rIns="27432" tIns="27432" bIns="27432" anchor="t">
            <a:spAutoFit/>
          </a:bodyPr>
          <a:lstStyle/>
          <a:p>
            <a:pPr algn="l">
              <a:spcAft>
                <a:spcPts val="0"/>
              </a:spcAft>
            </a:pPr>
            <a:r>
              <a:rPr sz="1200" b="1" i="0">
                <a:solidFill>
                  <a:srgbClr val="69DAE1"/>
                </a:solidFill>
                <a:latin typeface="Aptos"/>
              </a:rPr>
              <a:t>Astonish Infotech Pvt. Ltd., Trichy  •  01–30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9FC"/>
        </a:solidFill>
        <a:effectLst/>
      </p:bgPr>
    </p:bg>
    <p:spTree>
      <p:nvGrpSpPr>
        <p:cNvPr id="1" name=""/>
        <p:cNvGrpSpPr/>
        <p:nvPr/>
      </p:nvGrpSpPr>
      <p:grpSpPr/>
      <p:sp>
        <p:nvSpPr>
          <p:cNvPr id="2" name="TextBox 1"/>
          <p:cNvSpPr txBox="1"/>
          <p:nvPr/>
        </p:nvSpPr>
        <p:spPr>
          <a:xfrm>
            <a:off x="594360" y="347472"/>
            <a:ext cx="10789920" cy="502920"/>
          </a:xfrm>
          <a:prstGeom prst="rect">
            <a:avLst/>
          </a:prstGeom>
          <a:noFill/>
        </p:spPr>
        <p:txBody>
          <a:bodyPr wrap="square" lIns="27432" rIns="27432" tIns="27432" bIns="27432" anchor="t">
            <a:spAutoFit/>
          </a:bodyPr>
          <a:lstStyle/>
          <a:p>
            <a:pPr algn="l">
              <a:spcAft>
                <a:spcPts val="0"/>
              </a:spcAft>
            </a:pPr>
            <a:r>
              <a:rPr sz="2700" b="1" i="0">
                <a:solidFill>
                  <a:srgbClr val="0F1F3A"/>
                </a:solidFill>
                <a:latin typeface="Aptos"/>
              </a:rPr>
              <a:t>Presentation Roadmap</a:t>
            </a:r>
          </a:p>
        </p:txBody>
      </p:sp>
      <p:sp>
        <p:nvSpPr>
          <p:cNvPr id="3" name="Rectangle 2"/>
          <p:cNvSpPr/>
          <p:nvPr/>
        </p:nvSpPr>
        <p:spPr>
          <a:xfrm>
            <a:off x="612648" y="960120"/>
            <a:ext cx="713232" cy="50292"/>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0" y="438912"/>
            <a:ext cx="2057400" cy="274320"/>
          </a:xfrm>
          <a:prstGeom prst="rect">
            <a:avLst/>
          </a:prstGeom>
          <a:noFill/>
        </p:spPr>
        <p:txBody>
          <a:bodyPr wrap="square" lIns="27432" rIns="27432" tIns="27432" bIns="27432" anchor="t">
            <a:spAutoFit/>
          </a:bodyPr>
          <a:lstStyle/>
          <a:p>
            <a:pPr algn="r">
              <a:spcAft>
                <a:spcPts val="0"/>
              </a:spcAft>
            </a:pPr>
            <a:r>
              <a:rPr sz="900" b="1" i="0">
                <a:solidFill>
                  <a:srgbClr val="00A6A6"/>
                </a:solidFill>
                <a:latin typeface="Aptos"/>
              </a:rPr>
              <a:t>OVERVIEW</a:t>
            </a:r>
          </a:p>
        </p:txBody>
      </p:sp>
      <p:sp>
        <p:nvSpPr>
          <p:cNvPr id="5" name="TextBox 4"/>
          <p:cNvSpPr txBox="1"/>
          <p:nvPr/>
        </p:nvSpPr>
        <p:spPr>
          <a:xfrm>
            <a:off x="9692640" y="6510528"/>
            <a:ext cx="1920240" cy="182880"/>
          </a:xfrm>
          <a:prstGeom prst="rect">
            <a:avLst/>
          </a:prstGeom>
          <a:noFill/>
        </p:spPr>
        <p:txBody>
          <a:bodyPr wrap="square" lIns="27432" rIns="27432" tIns="27432" bIns="27432" anchor="t">
            <a:spAutoFit/>
          </a:bodyPr>
          <a:lstStyle/>
          <a:p>
            <a:pPr algn="r">
              <a:spcAft>
                <a:spcPts val="0"/>
              </a:spcAft>
            </a:pPr>
            <a:r>
              <a:rPr sz="900" b="0" i="0">
                <a:solidFill>
                  <a:srgbClr val="5E7085"/>
                </a:solidFill>
                <a:latin typeface="Aptos"/>
              </a:rPr>
              <a:t>02  |  CAREBOT</a:t>
            </a:r>
          </a:p>
        </p:txBody>
      </p:sp>
      <p:sp>
        <p:nvSpPr>
          <p:cNvPr id="6" name="Oval 5"/>
          <p:cNvSpPr/>
          <p:nvPr/>
        </p:nvSpPr>
        <p:spPr>
          <a:xfrm>
            <a:off x="777240" y="1353312"/>
            <a:ext cx="530352" cy="530352"/>
          </a:xfrm>
          <a:prstGeom prst="ellipse">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444752"/>
            <a:ext cx="475488" cy="274320"/>
          </a:xfrm>
          <a:prstGeom prst="rect">
            <a:avLst/>
          </a:prstGeom>
          <a:noFill/>
        </p:spPr>
        <p:txBody>
          <a:bodyPr wrap="square" lIns="27432" rIns="27432" tIns="27432" bIns="27432" anchor="t">
            <a:spAutoFit/>
          </a:bodyPr>
          <a:lstStyle/>
          <a:p>
            <a:pPr algn="ctr">
              <a:spcAft>
                <a:spcPts val="0"/>
              </a:spcAft>
            </a:pPr>
            <a:r>
              <a:rPr sz="1300" b="1" i="0">
                <a:solidFill>
                  <a:srgbClr val="FFFFFF"/>
                </a:solidFill>
                <a:latin typeface="Aptos"/>
              </a:rPr>
              <a:t>01</a:t>
            </a:r>
          </a:p>
        </p:txBody>
      </p:sp>
      <p:sp>
        <p:nvSpPr>
          <p:cNvPr id="8" name="TextBox 7"/>
          <p:cNvSpPr txBox="1"/>
          <p:nvPr/>
        </p:nvSpPr>
        <p:spPr>
          <a:xfrm>
            <a:off x="1554480" y="1371600"/>
            <a:ext cx="2743200" cy="301752"/>
          </a:xfrm>
          <a:prstGeom prst="rect">
            <a:avLst/>
          </a:prstGeom>
          <a:noFill/>
        </p:spPr>
        <p:txBody>
          <a:bodyPr wrap="square" lIns="27432" rIns="27432" tIns="27432" bIns="27432" anchor="t">
            <a:spAutoFit/>
          </a:bodyPr>
          <a:lstStyle/>
          <a:p>
            <a:pPr algn="l">
              <a:spcAft>
                <a:spcPts val="0"/>
              </a:spcAft>
            </a:pPr>
            <a:r>
              <a:rPr sz="1800" b="1" i="0">
                <a:solidFill>
                  <a:srgbClr val="0F1F3A"/>
                </a:solidFill>
                <a:latin typeface="Aptos"/>
              </a:rPr>
              <a:t>Introduction &amp; problem</a:t>
            </a:r>
          </a:p>
        </p:txBody>
      </p:sp>
      <p:sp>
        <p:nvSpPr>
          <p:cNvPr id="9" name="TextBox 8"/>
          <p:cNvSpPr txBox="1"/>
          <p:nvPr/>
        </p:nvSpPr>
        <p:spPr>
          <a:xfrm>
            <a:off x="4297680" y="1371600"/>
            <a:ext cx="6766560" cy="384048"/>
          </a:xfrm>
          <a:prstGeom prst="rect">
            <a:avLst/>
          </a:prstGeom>
          <a:noFill/>
        </p:spPr>
        <p:txBody>
          <a:bodyPr wrap="square" lIns="27432" rIns="27432" tIns="27432" bIns="27432" anchor="t">
            <a:spAutoFit/>
          </a:bodyPr>
          <a:lstStyle/>
          <a:p>
            <a:pPr algn="l">
              <a:spcAft>
                <a:spcPts val="0"/>
              </a:spcAft>
            </a:pPr>
            <a:r>
              <a:rPr sz="1500" b="0" i="0">
                <a:solidFill>
                  <a:srgbClr val="5E7085"/>
                </a:solidFill>
                <a:latin typeface="Aptos"/>
              </a:rPr>
              <a:t>Why a medical information chatbot is useful</a:t>
            </a:r>
          </a:p>
        </p:txBody>
      </p:sp>
      <p:sp>
        <p:nvSpPr>
          <p:cNvPr id="10" name="Rectangle 9"/>
          <p:cNvSpPr/>
          <p:nvPr/>
        </p:nvSpPr>
        <p:spPr>
          <a:xfrm>
            <a:off x="1024128" y="1911095"/>
            <a:ext cx="22860" cy="365760"/>
          </a:xfrm>
          <a:prstGeom prst="rect">
            <a:avLst/>
          </a:prstGeom>
          <a:solidFill>
            <a:srgbClr val="DCE4EC"/>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2295144"/>
            <a:ext cx="530352" cy="530352"/>
          </a:xfrm>
          <a:prstGeom prst="ellipse">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2386584"/>
            <a:ext cx="475488" cy="274320"/>
          </a:xfrm>
          <a:prstGeom prst="rect">
            <a:avLst/>
          </a:prstGeom>
          <a:noFill/>
        </p:spPr>
        <p:txBody>
          <a:bodyPr wrap="square" lIns="27432" rIns="27432" tIns="27432" bIns="27432" anchor="t">
            <a:spAutoFit/>
          </a:bodyPr>
          <a:lstStyle/>
          <a:p>
            <a:pPr algn="ctr">
              <a:spcAft>
                <a:spcPts val="0"/>
              </a:spcAft>
            </a:pPr>
            <a:r>
              <a:rPr sz="1300" b="1" i="0">
                <a:solidFill>
                  <a:srgbClr val="FFFFFF"/>
                </a:solidFill>
                <a:latin typeface="Aptos"/>
              </a:rPr>
              <a:t>02</a:t>
            </a:r>
          </a:p>
        </p:txBody>
      </p:sp>
      <p:sp>
        <p:nvSpPr>
          <p:cNvPr id="13" name="TextBox 12"/>
          <p:cNvSpPr txBox="1"/>
          <p:nvPr/>
        </p:nvSpPr>
        <p:spPr>
          <a:xfrm>
            <a:off x="1554480" y="2313432"/>
            <a:ext cx="2743200" cy="301752"/>
          </a:xfrm>
          <a:prstGeom prst="rect">
            <a:avLst/>
          </a:prstGeom>
          <a:noFill/>
        </p:spPr>
        <p:txBody>
          <a:bodyPr wrap="square" lIns="27432" rIns="27432" tIns="27432" bIns="27432" anchor="t">
            <a:spAutoFit/>
          </a:bodyPr>
          <a:lstStyle/>
          <a:p>
            <a:pPr algn="l">
              <a:spcAft>
                <a:spcPts val="0"/>
              </a:spcAft>
            </a:pPr>
            <a:r>
              <a:rPr sz="1800" b="1" i="0">
                <a:solidFill>
                  <a:srgbClr val="0F1F3A"/>
                </a:solidFill>
                <a:latin typeface="Aptos"/>
              </a:rPr>
              <a:t>Core technology</a:t>
            </a:r>
          </a:p>
        </p:txBody>
      </p:sp>
      <p:sp>
        <p:nvSpPr>
          <p:cNvPr id="14" name="TextBox 13"/>
          <p:cNvSpPr txBox="1"/>
          <p:nvPr/>
        </p:nvSpPr>
        <p:spPr>
          <a:xfrm>
            <a:off x="4297680" y="2313432"/>
            <a:ext cx="6766560" cy="384048"/>
          </a:xfrm>
          <a:prstGeom prst="rect">
            <a:avLst/>
          </a:prstGeom>
          <a:noFill/>
        </p:spPr>
        <p:txBody>
          <a:bodyPr wrap="square" lIns="27432" rIns="27432" tIns="27432" bIns="27432" anchor="t">
            <a:spAutoFit/>
          </a:bodyPr>
          <a:lstStyle/>
          <a:p>
            <a:pPr algn="l">
              <a:spcAft>
                <a:spcPts val="0"/>
              </a:spcAft>
            </a:pPr>
            <a:r>
              <a:rPr sz="1500" b="0" i="0">
                <a:solidFill>
                  <a:srgbClr val="5E7085"/>
                </a:solidFill>
                <a:latin typeface="Aptos"/>
              </a:rPr>
              <a:t>LLMs, RAG, embeddings and semantic search</a:t>
            </a:r>
          </a:p>
        </p:txBody>
      </p:sp>
      <p:sp>
        <p:nvSpPr>
          <p:cNvPr id="15" name="Rectangle 14"/>
          <p:cNvSpPr/>
          <p:nvPr/>
        </p:nvSpPr>
        <p:spPr>
          <a:xfrm>
            <a:off x="1024128" y="2852927"/>
            <a:ext cx="22860" cy="365760"/>
          </a:xfrm>
          <a:prstGeom prst="rect">
            <a:avLst/>
          </a:prstGeom>
          <a:solidFill>
            <a:srgbClr val="DCE4EC"/>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77240" y="3236976"/>
            <a:ext cx="530352" cy="530352"/>
          </a:xfrm>
          <a:prstGeom prst="ellipse">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328416"/>
            <a:ext cx="475488" cy="274320"/>
          </a:xfrm>
          <a:prstGeom prst="rect">
            <a:avLst/>
          </a:prstGeom>
          <a:noFill/>
        </p:spPr>
        <p:txBody>
          <a:bodyPr wrap="square" lIns="27432" rIns="27432" tIns="27432" bIns="27432" anchor="t">
            <a:spAutoFit/>
          </a:bodyPr>
          <a:lstStyle/>
          <a:p>
            <a:pPr algn="ctr">
              <a:spcAft>
                <a:spcPts val="0"/>
              </a:spcAft>
            </a:pPr>
            <a:r>
              <a:rPr sz="1300" b="1" i="0">
                <a:solidFill>
                  <a:srgbClr val="FFFFFF"/>
                </a:solidFill>
                <a:latin typeface="Aptos"/>
              </a:rPr>
              <a:t>03</a:t>
            </a:r>
          </a:p>
        </p:txBody>
      </p:sp>
      <p:sp>
        <p:nvSpPr>
          <p:cNvPr id="18" name="TextBox 17"/>
          <p:cNvSpPr txBox="1"/>
          <p:nvPr/>
        </p:nvSpPr>
        <p:spPr>
          <a:xfrm>
            <a:off x="1554480" y="3255264"/>
            <a:ext cx="2743200" cy="301752"/>
          </a:xfrm>
          <a:prstGeom prst="rect">
            <a:avLst/>
          </a:prstGeom>
          <a:noFill/>
        </p:spPr>
        <p:txBody>
          <a:bodyPr wrap="square" lIns="27432" rIns="27432" tIns="27432" bIns="27432" anchor="t">
            <a:spAutoFit/>
          </a:bodyPr>
          <a:lstStyle/>
          <a:p>
            <a:pPr algn="l">
              <a:spcAft>
                <a:spcPts val="0"/>
              </a:spcAft>
            </a:pPr>
            <a:r>
              <a:rPr sz="1800" b="1" i="0">
                <a:solidFill>
                  <a:srgbClr val="0F1F3A"/>
                </a:solidFill>
                <a:latin typeface="Aptos"/>
              </a:rPr>
              <a:t>Proposed system</a:t>
            </a:r>
          </a:p>
        </p:txBody>
      </p:sp>
      <p:sp>
        <p:nvSpPr>
          <p:cNvPr id="19" name="TextBox 18"/>
          <p:cNvSpPr txBox="1"/>
          <p:nvPr/>
        </p:nvSpPr>
        <p:spPr>
          <a:xfrm>
            <a:off x="4297680" y="3255264"/>
            <a:ext cx="6766560" cy="384048"/>
          </a:xfrm>
          <a:prstGeom prst="rect">
            <a:avLst/>
          </a:prstGeom>
          <a:noFill/>
        </p:spPr>
        <p:txBody>
          <a:bodyPr wrap="square" lIns="27432" rIns="27432" tIns="27432" bIns="27432" anchor="t">
            <a:spAutoFit/>
          </a:bodyPr>
          <a:lstStyle/>
          <a:p>
            <a:pPr algn="l">
              <a:spcAft>
                <a:spcPts val="0"/>
              </a:spcAft>
            </a:pPr>
            <a:r>
              <a:rPr sz="1500" b="0" i="0">
                <a:solidFill>
                  <a:srgbClr val="5E7085"/>
                </a:solidFill>
                <a:latin typeface="Aptos"/>
              </a:rPr>
              <a:t>Architecture, workflow and technology stack</a:t>
            </a:r>
          </a:p>
        </p:txBody>
      </p:sp>
      <p:sp>
        <p:nvSpPr>
          <p:cNvPr id="20" name="Rectangle 19"/>
          <p:cNvSpPr/>
          <p:nvPr/>
        </p:nvSpPr>
        <p:spPr>
          <a:xfrm>
            <a:off x="1024128" y="3794760"/>
            <a:ext cx="22860" cy="365760"/>
          </a:xfrm>
          <a:prstGeom prst="rect">
            <a:avLst/>
          </a:prstGeom>
          <a:solidFill>
            <a:srgbClr val="DCE4EC"/>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77240" y="4178808"/>
            <a:ext cx="530352" cy="530352"/>
          </a:xfrm>
          <a:prstGeom prst="ellipse">
            <a:avLst/>
          </a:prstGeom>
          <a:solidFill>
            <a:srgbClr val="182F52"/>
          </a:solidFill>
          <a:ln>
            <a:solidFill>
              <a:srgbClr val="182F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4270248"/>
            <a:ext cx="475488" cy="274320"/>
          </a:xfrm>
          <a:prstGeom prst="rect">
            <a:avLst/>
          </a:prstGeom>
          <a:noFill/>
        </p:spPr>
        <p:txBody>
          <a:bodyPr wrap="square" lIns="27432" rIns="27432" tIns="27432" bIns="27432" anchor="t">
            <a:spAutoFit/>
          </a:bodyPr>
          <a:lstStyle/>
          <a:p>
            <a:pPr algn="ctr">
              <a:spcAft>
                <a:spcPts val="0"/>
              </a:spcAft>
            </a:pPr>
            <a:r>
              <a:rPr sz="1300" b="1" i="0">
                <a:solidFill>
                  <a:srgbClr val="FFFFFF"/>
                </a:solidFill>
                <a:latin typeface="Aptos"/>
              </a:rPr>
              <a:t>04</a:t>
            </a:r>
          </a:p>
        </p:txBody>
      </p:sp>
      <p:sp>
        <p:nvSpPr>
          <p:cNvPr id="23" name="TextBox 22"/>
          <p:cNvSpPr txBox="1"/>
          <p:nvPr/>
        </p:nvSpPr>
        <p:spPr>
          <a:xfrm>
            <a:off x="1554480" y="4197096"/>
            <a:ext cx="2743200" cy="301752"/>
          </a:xfrm>
          <a:prstGeom prst="rect">
            <a:avLst/>
          </a:prstGeom>
          <a:noFill/>
        </p:spPr>
        <p:txBody>
          <a:bodyPr wrap="square" lIns="27432" rIns="27432" tIns="27432" bIns="27432" anchor="t">
            <a:spAutoFit/>
          </a:bodyPr>
          <a:lstStyle/>
          <a:p>
            <a:pPr algn="l">
              <a:spcAft>
                <a:spcPts val="0"/>
              </a:spcAft>
            </a:pPr>
            <a:r>
              <a:rPr sz="1800" b="1" i="0">
                <a:solidFill>
                  <a:srgbClr val="0F1F3A"/>
                </a:solidFill>
                <a:latin typeface="Aptos"/>
              </a:rPr>
              <a:t>Responsible design</a:t>
            </a:r>
          </a:p>
        </p:txBody>
      </p:sp>
      <p:sp>
        <p:nvSpPr>
          <p:cNvPr id="24" name="TextBox 23"/>
          <p:cNvSpPr txBox="1"/>
          <p:nvPr/>
        </p:nvSpPr>
        <p:spPr>
          <a:xfrm>
            <a:off x="4297680" y="4197096"/>
            <a:ext cx="6766560" cy="384048"/>
          </a:xfrm>
          <a:prstGeom prst="rect">
            <a:avLst/>
          </a:prstGeom>
          <a:noFill/>
        </p:spPr>
        <p:txBody>
          <a:bodyPr wrap="square" lIns="27432" rIns="27432" tIns="27432" bIns="27432" anchor="t">
            <a:spAutoFit/>
          </a:bodyPr>
          <a:lstStyle/>
          <a:p>
            <a:pPr algn="l">
              <a:spcAft>
                <a:spcPts val="0"/>
              </a:spcAft>
            </a:pPr>
            <a:r>
              <a:rPr sz="1500" b="0" i="0">
                <a:solidFill>
                  <a:srgbClr val="5E7085"/>
                </a:solidFill>
                <a:latin typeface="Aptos"/>
              </a:rPr>
              <a:t>Safety, limitations and evaluation</a:t>
            </a:r>
          </a:p>
        </p:txBody>
      </p:sp>
      <p:sp>
        <p:nvSpPr>
          <p:cNvPr id="25" name="Rectangle 24"/>
          <p:cNvSpPr/>
          <p:nvPr/>
        </p:nvSpPr>
        <p:spPr>
          <a:xfrm>
            <a:off x="1024128" y="4736592"/>
            <a:ext cx="22860" cy="365760"/>
          </a:xfrm>
          <a:prstGeom prst="rect">
            <a:avLst/>
          </a:prstGeom>
          <a:solidFill>
            <a:srgbClr val="DCE4EC"/>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77240" y="5120640"/>
            <a:ext cx="530352" cy="530352"/>
          </a:xfrm>
          <a:prstGeom prst="ellipse">
            <a:avLst/>
          </a:prstGeom>
          <a:solidFill>
            <a:srgbClr val="182F52"/>
          </a:solidFill>
          <a:ln>
            <a:solidFill>
              <a:srgbClr val="182F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5212079"/>
            <a:ext cx="475488" cy="274320"/>
          </a:xfrm>
          <a:prstGeom prst="rect">
            <a:avLst/>
          </a:prstGeom>
          <a:noFill/>
        </p:spPr>
        <p:txBody>
          <a:bodyPr wrap="square" lIns="27432" rIns="27432" tIns="27432" bIns="27432" anchor="t">
            <a:spAutoFit/>
          </a:bodyPr>
          <a:lstStyle/>
          <a:p>
            <a:pPr algn="ctr">
              <a:spcAft>
                <a:spcPts val="0"/>
              </a:spcAft>
            </a:pPr>
            <a:r>
              <a:rPr sz="1300" b="1" i="0">
                <a:solidFill>
                  <a:srgbClr val="FFFFFF"/>
                </a:solidFill>
                <a:latin typeface="Aptos"/>
              </a:rPr>
              <a:t>05</a:t>
            </a:r>
          </a:p>
        </p:txBody>
      </p:sp>
      <p:sp>
        <p:nvSpPr>
          <p:cNvPr id="28" name="TextBox 27"/>
          <p:cNvSpPr txBox="1"/>
          <p:nvPr/>
        </p:nvSpPr>
        <p:spPr>
          <a:xfrm>
            <a:off x="1554480" y="5138927"/>
            <a:ext cx="2743200" cy="301752"/>
          </a:xfrm>
          <a:prstGeom prst="rect">
            <a:avLst/>
          </a:prstGeom>
          <a:noFill/>
        </p:spPr>
        <p:txBody>
          <a:bodyPr wrap="square" lIns="27432" rIns="27432" tIns="27432" bIns="27432" anchor="t">
            <a:spAutoFit/>
          </a:bodyPr>
          <a:lstStyle/>
          <a:p>
            <a:pPr algn="l">
              <a:spcAft>
                <a:spcPts val="0"/>
              </a:spcAft>
            </a:pPr>
            <a:r>
              <a:rPr sz="1800" b="1" i="0">
                <a:solidFill>
                  <a:srgbClr val="0F1F3A"/>
                </a:solidFill>
                <a:latin typeface="Aptos"/>
              </a:rPr>
              <a:t>Conclusion</a:t>
            </a:r>
          </a:p>
        </p:txBody>
      </p:sp>
      <p:sp>
        <p:nvSpPr>
          <p:cNvPr id="29" name="TextBox 28"/>
          <p:cNvSpPr txBox="1"/>
          <p:nvPr/>
        </p:nvSpPr>
        <p:spPr>
          <a:xfrm>
            <a:off x="4297680" y="5138927"/>
            <a:ext cx="6766560" cy="384048"/>
          </a:xfrm>
          <a:prstGeom prst="rect">
            <a:avLst/>
          </a:prstGeom>
          <a:noFill/>
        </p:spPr>
        <p:txBody>
          <a:bodyPr wrap="square" lIns="27432" rIns="27432" tIns="27432" bIns="27432" anchor="t">
            <a:spAutoFit/>
          </a:bodyPr>
          <a:lstStyle/>
          <a:p>
            <a:pPr algn="l">
              <a:spcAft>
                <a:spcPts val="0"/>
              </a:spcAft>
            </a:pPr>
            <a:r>
              <a:rPr sz="1500" b="0" i="0">
                <a:solidFill>
                  <a:srgbClr val="5E7085"/>
                </a:solidFill>
                <a:latin typeface="Aptos"/>
              </a:rPr>
              <a:t>Future improvements and key takeaways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9FC"/>
        </a:solidFill>
        <a:effectLst/>
      </p:bgPr>
    </p:bg>
    <p:spTree>
      <p:nvGrpSpPr>
        <p:cNvPr id="1" name=""/>
        <p:cNvGrpSpPr/>
        <p:nvPr/>
      </p:nvGrpSpPr>
      <p:grpSpPr/>
      <p:sp>
        <p:nvSpPr>
          <p:cNvPr id="2" name="TextBox 1"/>
          <p:cNvSpPr txBox="1"/>
          <p:nvPr/>
        </p:nvSpPr>
        <p:spPr>
          <a:xfrm>
            <a:off x="594360" y="347472"/>
            <a:ext cx="10789920" cy="502920"/>
          </a:xfrm>
          <a:prstGeom prst="rect">
            <a:avLst/>
          </a:prstGeom>
          <a:noFill/>
        </p:spPr>
        <p:txBody>
          <a:bodyPr wrap="square" lIns="27432" rIns="27432" tIns="27432" bIns="27432" anchor="t">
            <a:spAutoFit/>
          </a:bodyPr>
          <a:lstStyle/>
          <a:p>
            <a:pPr algn="l">
              <a:spcAft>
                <a:spcPts val="0"/>
              </a:spcAft>
            </a:pPr>
            <a:r>
              <a:rPr sz="2700" b="1" i="0">
                <a:solidFill>
                  <a:srgbClr val="0F1F3A"/>
                </a:solidFill>
                <a:latin typeface="Aptos"/>
              </a:rPr>
              <a:t>Internship Context</a:t>
            </a:r>
          </a:p>
        </p:txBody>
      </p:sp>
      <p:sp>
        <p:nvSpPr>
          <p:cNvPr id="3" name="Rectangle 2"/>
          <p:cNvSpPr/>
          <p:nvPr/>
        </p:nvSpPr>
        <p:spPr>
          <a:xfrm>
            <a:off x="612648" y="960120"/>
            <a:ext cx="713232" cy="50292"/>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0" y="438912"/>
            <a:ext cx="2057400" cy="274320"/>
          </a:xfrm>
          <a:prstGeom prst="rect">
            <a:avLst/>
          </a:prstGeom>
          <a:noFill/>
        </p:spPr>
        <p:txBody>
          <a:bodyPr wrap="square" lIns="27432" rIns="27432" tIns="27432" bIns="27432" anchor="t">
            <a:spAutoFit/>
          </a:bodyPr>
          <a:lstStyle/>
          <a:p>
            <a:pPr algn="r">
              <a:spcAft>
                <a:spcPts val="0"/>
              </a:spcAft>
            </a:pPr>
            <a:r>
              <a:rPr sz="900" b="1" i="0">
                <a:solidFill>
                  <a:srgbClr val="00A6A6"/>
                </a:solidFill>
                <a:latin typeface="Aptos"/>
              </a:rPr>
              <a:t>INTERNSHIP</a:t>
            </a:r>
          </a:p>
        </p:txBody>
      </p:sp>
      <p:sp>
        <p:nvSpPr>
          <p:cNvPr id="5" name="TextBox 4"/>
          <p:cNvSpPr txBox="1"/>
          <p:nvPr/>
        </p:nvSpPr>
        <p:spPr>
          <a:xfrm>
            <a:off x="9692640" y="6510528"/>
            <a:ext cx="1920240" cy="182880"/>
          </a:xfrm>
          <a:prstGeom prst="rect">
            <a:avLst/>
          </a:prstGeom>
          <a:noFill/>
        </p:spPr>
        <p:txBody>
          <a:bodyPr wrap="square" lIns="27432" rIns="27432" tIns="27432" bIns="27432" anchor="t">
            <a:spAutoFit/>
          </a:bodyPr>
          <a:lstStyle/>
          <a:p>
            <a:pPr algn="r">
              <a:spcAft>
                <a:spcPts val="0"/>
              </a:spcAft>
            </a:pPr>
            <a:r>
              <a:rPr sz="900" b="0" i="0">
                <a:solidFill>
                  <a:srgbClr val="5E7085"/>
                </a:solidFill>
                <a:latin typeface="Aptos"/>
              </a:rPr>
              <a:t>03  |  CAREBOT</a:t>
            </a:r>
          </a:p>
        </p:txBody>
      </p:sp>
      <p:sp>
        <p:nvSpPr>
          <p:cNvPr id="6" name="Rounded Rectangle 5"/>
          <p:cNvSpPr/>
          <p:nvPr/>
        </p:nvSpPr>
        <p:spPr>
          <a:xfrm>
            <a:off x="731520" y="1417320"/>
            <a:ext cx="5120640" cy="141732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17320"/>
            <a:ext cx="73152" cy="1417320"/>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581912"/>
            <a:ext cx="4754879" cy="347472"/>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Organisation</a:t>
            </a:r>
          </a:p>
        </p:txBody>
      </p:sp>
      <p:sp>
        <p:nvSpPr>
          <p:cNvPr id="9" name="TextBox 8"/>
          <p:cNvSpPr txBox="1"/>
          <p:nvPr/>
        </p:nvSpPr>
        <p:spPr>
          <a:xfrm>
            <a:off x="932688" y="2029968"/>
            <a:ext cx="4736592" cy="667512"/>
          </a:xfrm>
          <a:prstGeom prst="rect">
            <a:avLst/>
          </a:prstGeom>
          <a:noFill/>
        </p:spPr>
        <p:txBody>
          <a:bodyPr wrap="square" lIns="27432" rIns="27432" tIns="27432" bIns="27432" anchor="t">
            <a:spAutoFit/>
          </a:bodyPr>
          <a:lstStyle/>
          <a:p>
            <a:pPr algn="l">
              <a:spcAft>
                <a:spcPts val="0"/>
              </a:spcAft>
            </a:pPr>
            <a:r>
              <a:rPr sz="1600" b="0" i="0">
                <a:solidFill>
                  <a:srgbClr val="5E7085"/>
                </a:solidFill>
                <a:latin typeface="Aptos"/>
              </a:rPr>
              <a:t>Astonish Infotech Pvt. Ltd.
Trichy, Tamil Nadu</a:t>
            </a:r>
          </a:p>
        </p:txBody>
      </p:sp>
      <p:sp>
        <p:nvSpPr>
          <p:cNvPr id="10" name="Rounded Rectangle 9"/>
          <p:cNvSpPr/>
          <p:nvPr/>
        </p:nvSpPr>
        <p:spPr>
          <a:xfrm>
            <a:off x="6172200" y="1417320"/>
            <a:ext cx="5120640" cy="141732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417320"/>
            <a:ext cx="73152" cy="1417320"/>
          </a:xfrm>
          <a:prstGeom prst="rect">
            <a:avLst/>
          </a:prstGeom>
          <a:solidFill>
            <a:srgbClr val="F5B744"/>
          </a:solidFill>
          <a:ln>
            <a:solidFill>
              <a:srgbClr val="F5B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1581912"/>
            <a:ext cx="4754879" cy="347472"/>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Internship period</a:t>
            </a:r>
          </a:p>
        </p:txBody>
      </p:sp>
      <p:sp>
        <p:nvSpPr>
          <p:cNvPr id="13" name="TextBox 12"/>
          <p:cNvSpPr txBox="1"/>
          <p:nvPr/>
        </p:nvSpPr>
        <p:spPr>
          <a:xfrm>
            <a:off x="6373368" y="2029968"/>
            <a:ext cx="4736592" cy="667512"/>
          </a:xfrm>
          <a:prstGeom prst="rect">
            <a:avLst/>
          </a:prstGeom>
          <a:noFill/>
        </p:spPr>
        <p:txBody>
          <a:bodyPr wrap="square" lIns="27432" rIns="27432" tIns="27432" bIns="27432" anchor="t">
            <a:spAutoFit/>
          </a:bodyPr>
          <a:lstStyle/>
          <a:p>
            <a:pPr algn="l">
              <a:spcAft>
                <a:spcPts val="0"/>
              </a:spcAft>
            </a:pPr>
            <a:r>
              <a:rPr sz="1700" b="0" i="0">
                <a:solidFill>
                  <a:srgbClr val="5E7085"/>
                </a:solidFill>
                <a:latin typeface="Aptos"/>
              </a:rPr>
              <a:t>01 June 2026 – 30 June 2026</a:t>
            </a:r>
          </a:p>
        </p:txBody>
      </p:sp>
      <p:sp>
        <p:nvSpPr>
          <p:cNvPr id="14" name="Rounded Rectangle 13"/>
          <p:cNvSpPr/>
          <p:nvPr/>
        </p:nvSpPr>
        <p:spPr>
          <a:xfrm>
            <a:off x="731520" y="3154680"/>
            <a:ext cx="5120640" cy="141732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154680"/>
            <a:ext cx="73152" cy="1417320"/>
          </a:xfrm>
          <a:prstGeom prst="rect">
            <a:avLst/>
          </a:prstGeom>
          <a:solidFill>
            <a:srgbClr val="182F52"/>
          </a:solidFill>
          <a:ln>
            <a:solidFill>
              <a:srgbClr val="182F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3319272"/>
            <a:ext cx="4754879" cy="347472"/>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Project topic</a:t>
            </a:r>
          </a:p>
        </p:txBody>
      </p:sp>
      <p:sp>
        <p:nvSpPr>
          <p:cNvPr id="17" name="TextBox 16"/>
          <p:cNvSpPr txBox="1"/>
          <p:nvPr/>
        </p:nvSpPr>
        <p:spPr>
          <a:xfrm>
            <a:off x="932688" y="3767328"/>
            <a:ext cx="4736592" cy="667512"/>
          </a:xfrm>
          <a:prstGeom prst="rect">
            <a:avLst/>
          </a:prstGeom>
          <a:noFill/>
        </p:spPr>
        <p:txBody>
          <a:bodyPr wrap="square" lIns="27432" rIns="27432" tIns="27432" bIns="27432" anchor="t">
            <a:spAutoFit/>
          </a:bodyPr>
          <a:lstStyle/>
          <a:p>
            <a:pPr algn="l">
              <a:spcAft>
                <a:spcPts val="0"/>
              </a:spcAft>
            </a:pPr>
            <a:r>
              <a:rPr sz="1500" b="0" i="0">
                <a:solidFill>
                  <a:srgbClr val="5E7085"/>
                </a:solidFill>
                <a:latin typeface="Aptos"/>
              </a:rPr>
              <a:t>Build a Medical Chatbot Using RAG Architecture with Cohere LLM</a:t>
            </a:r>
          </a:p>
        </p:txBody>
      </p:sp>
      <p:sp>
        <p:nvSpPr>
          <p:cNvPr id="18" name="Rounded Rectangle 17"/>
          <p:cNvSpPr/>
          <p:nvPr/>
        </p:nvSpPr>
        <p:spPr>
          <a:xfrm>
            <a:off x="6172200" y="3154680"/>
            <a:ext cx="5120640" cy="141732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3154680"/>
            <a:ext cx="73152" cy="1417320"/>
          </a:xfrm>
          <a:prstGeom prst="rect">
            <a:avLst/>
          </a:prstGeom>
          <a:solidFill>
            <a:srgbClr val="31916A"/>
          </a:solidFill>
          <a:ln>
            <a:solidFill>
              <a:srgbClr val="319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3319272"/>
            <a:ext cx="4754879" cy="347472"/>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Supervisor recorded</a:t>
            </a:r>
          </a:p>
        </p:txBody>
      </p:sp>
      <p:sp>
        <p:nvSpPr>
          <p:cNvPr id="21" name="TextBox 20"/>
          <p:cNvSpPr txBox="1"/>
          <p:nvPr/>
        </p:nvSpPr>
        <p:spPr>
          <a:xfrm>
            <a:off x="6373368" y="3767328"/>
            <a:ext cx="4736592" cy="667512"/>
          </a:xfrm>
          <a:prstGeom prst="rect">
            <a:avLst/>
          </a:prstGeom>
          <a:noFill/>
        </p:spPr>
        <p:txBody>
          <a:bodyPr wrap="square" lIns="27432" rIns="27432" tIns="27432" bIns="27432" anchor="t">
            <a:spAutoFit/>
          </a:bodyPr>
          <a:lstStyle/>
          <a:p>
            <a:pPr algn="l">
              <a:spcAft>
                <a:spcPts val="0"/>
              </a:spcAft>
            </a:pPr>
            <a:r>
              <a:rPr sz="1600" b="0" i="0">
                <a:solidFill>
                  <a:srgbClr val="5E7085"/>
                </a:solidFill>
                <a:latin typeface="Aptos"/>
              </a:rPr>
              <a:t>Ranjani C  •  AI/ML Developer</a:t>
            </a:r>
          </a:p>
        </p:txBody>
      </p:sp>
      <p:sp>
        <p:nvSpPr>
          <p:cNvPr id="22" name="TextBox 21"/>
          <p:cNvSpPr txBox="1"/>
          <p:nvPr/>
        </p:nvSpPr>
        <p:spPr>
          <a:xfrm>
            <a:off x="822960" y="5257800"/>
            <a:ext cx="10515600" cy="365760"/>
          </a:xfrm>
          <a:prstGeom prst="rect">
            <a:avLst/>
          </a:prstGeom>
          <a:noFill/>
        </p:spPr>
        <p:txBody>
          <a:bodyPr wrap="square" lIns="27432" rIns="27432" tIns="27432" bIns="27432" anchor="t">
            <a:spAutoFit/>
          </a:bodyPr>
          <a:lstStyle/>
          <a:p>
            <a:pPr algn="ctr">
              <a:spcAft>
                <a:spcPts val="0"/>
              </a:spcAft>
            </a:pPr>
            <a:r>
              <a:rPr sz="1500" b="0" i="0">
                <a:solidFill>
                  <a:srgbClr val="5E7085"/>
                </a:solidFill>
                <a:latin typeface="Aptos"/>
              </a:rPr>
              <a:t>B.Tech Information Technology  |  Semester VII  |  UCE, BIT Campus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9FC"/>
        </a:solidFill>
        <a:effectLst/>
      </p:bgPr>
    </p:bg>
    <p:spTree>
      <p:nvGrpSpPr>
        <p:cNvPr id="1" name=""/>
        <p:cNvGrpSpPr/>
        <p:nvPr/>
      </p:nvGrpSpPr>
      <p:grpSpPr/>
      <p:sp>
        <p:nvSpPr>
          <p:cNvPr id="2" name="TextBox 1"/>
          <p:cNvSpPr txBox="1"/>
          <p:nvPr/>
        </p:nvSpPr>
        <p:spPr>
          <a:xfrm>
            <a:off x="594360" y="347472"/>
            <a:ext cx="10789920" cy="502920"/>
          </a:xfrm>
          <a:prstGeom prst="rect">
            <a:avLst/>
          </a:prstGeom>
          <a:noFill/>
        </p:spPr>
        <p:txBody>
          <a:bodyPr wrap="square" lIns="27432" rIns="27432" tIns="27432" bIns="27432" anchor="t">
            <a:spAutoFit/>
          </a:bodyPr>
          <a:lstStyle/>
          <a:p>
            <a:pPr algn="l">
              <a:spcAft>
                <a:spcPts val="0"/>
              </a:spcAft>
            </a:pPr>
            <a:r>
              <a:rPr sz="2700" b="1" i="0">
                <a:solidFill>
                  <a:srgbClr val="0F1F3A"/>
                </a:solidFill>
                <a:latin typeface="Aptos"/>
              </a:rPr>
              <a:t>Project Overview</a:t>
            </a:r>
          </a:p>
        </p:txBody>
      </p:sp>
      <p:sp>
        <p:nvSpPr>
          <p:cNvPr id="3" name="Rectangle 2"/>
          <p:cNvSpPr/>
          <p:nvPr/>
        </p:nvSpPr>
        <p:spPr>
          <a:xfrm>
            <a:off x="612648" y="960120"/>
            <a:ext cx="713232" cy="50292"/>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0" y="438912"/>
            <a:ext cx="2057400" cy="274320"/>
          </a:xfrm>
          <a:prstGeom prst="rect">
            <a:avLst/>
          </a:prstGeom>
          <a:noFill/>
        </p:spPr>
        <p:txBody>
          <a:bodyPr wrap="square" lIns="27432" rIns="27432" tIns="27432" bIns="27432" anchor="t">
            <a:spAutoFit/>
          </a:bodyPr>
          <a:lstStyle/>
          <a:p>
            <a:pPr algn="r">
              <a:spcAft>
                <a:spcPts val="0"/>
              </a:spcAft>
            </a:pPr>
            <a:r>
              <a:rPr sz="900" b="1" i="0">
                <a:solidFill>
                  <a:srgbClr val="00A6A6"/>
                </a:solidFill>
                <a:latin typeface="Aptos"/>
              </a:rPr>
              <a:t>INTRODUCTION</a:t>
            </a:r>
          </a:p>
        </p:txBody>
      </p:sp>
      <p:sp>
        <p:nvSpPr>
          <p:cNvPr id="5" name="TextBox 4"/>
          <p:cNvSpPr txBox="1"/>
          <p:nvPr/>
        </p:nvSpPr>
        <p:spPr>
          <a:xfrm>
            <a:off x="9692640" y="6510528"/>
            <a:ext cx="1920240" cy="182880"/>
          </a:xfrm>
          <a:prstGeom prst="rect">
            <a:avLst/>
          </a:prstGeom>
          <a:noFill/>
        </p:spPr>
        <p:txBody>
          <a:bodyPr wrap="square" lIns="27432" rIns="27432" tIns="27432" bIns="27432" anchor="t">
            <a:spAutoFit/>
          </a:bodyPr>
          <a:lstStyle/>
          <a:p>
            <a:pPr algn="r">
              <a:spcAft>
                <a:spcPts val="0"/>
              </a:spcAft>
            </a:pPr>
            <a:r>
              <a:rPr sz="900" b="0" i="0">
                <a:solidFill>
                  <a:srgbClr val="5E7085"/>
                </a:solidFill>
                <a:latin typeface="Aptos"/>
              </a:rPr>
              <a:t>04  |  CAREBOT</a:t>
            </a:r>
          </a:p>
        </p:txBody>
      </p:sp>
      <p:sp>
        <p:nvSpPr>
          <p:cNvPr id="6" name="TextBox 5"/>
          <p:cNvSpPr txBox="1"/>
          <p:nvPr/>
        </p:nvSpPr>
        <p:spPr>
          <a:xfrm>
            <a:off x="822960" y="1325880"/>
            <a:ext cx="10424160" cy="731520"/>
          </a:xfrm>
          <a:prstGeom prst="rect">
            <a:avLst/>
          </a:prstGeom>
          <a:noFill/>
        </p:spPr>
        <p:txBody>
          <a:bodyPr wrap="square" lIns="27432" rIns="27432" tIns="27432" bIns="27432" anchor="t">
            <a:spAutoFit/>
          </a:bodyPr>
          <a:lstStyle/>
          <a:p>
            <a:pPr algn="l">
              <a:spcAft>
                <a:spcPts val="0"/>
              </a:spcAft>
            </a:pPr>
            <a:r>
              <a:rPr sz="2300" b="1" i="0">
                <a:solidFill>
                  <a:srgbClr val="0F1F3A"/>
                </a:solidFill>
                <a:latin typeface="Aptos"/>
              </a:rPr>
              <a:t>A conversational interface for finding general medical education information from a reviewed document collection.</a:t>
            </a:r>
          </a:p>
        </p:txBody>
      </p:sp>
      <p:sp>
        <p:nvSpPr>
          <p:cNvPr id="7" name="Rounded Rectangle 6"/>
          <p:cNvSpPr/>
          <p:nvPr/>
        </p:nvSpPr>
        <p:spPr>
          <a:xfrm>
            <a:off x="777240" y="2514600"/>
            <a:ext cx="3429000" cy="205740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14600"/>
            <a:ext cx="73152" cy="2057400"/>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679192"/>
            <a:ext cx="3063240" cy="347472"/>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User-friendly</a:t>
            </a:r>
          </a:p>
        </p:txBody>
      </p:sp>
      <p:sp>
        <p:nvSpPr>
          <p:cNvPr id="10" name="TextBox 9"/>
          <p:cNvSpPr txBox="1"/>
          <p:nvPr/>
        </p:nvSpPr>
        <p:spPr>
          <a:xfrm>
            <a:off x="978408" y="3127248"/>
            <a:ext cx="3044952" cy="1307592"/>
          </a:xfrm>
          <a:prstGeom prst="rect">
            <a:avLst/>
          </a:prstGeom>
          <a:noFill/>
        </p:spPr>
        <p:txBody>
          <a:bodyPr wrap="square" lIns="27432" rIns="27432" tIns="27432" bIns="27432" anchor="t">
            <a:spAutoFit/>
          </a:bodyPr>
          <a:lstStyle/>
          <a:p>
            <a:pPr algn="l">
              <a:spcAft>
                <a:spcPts val="0"/>
              </a:spcAft>
            </a:pPr>
            <a:r>
              <a:rPr sz="1500" b="0" i="0">
                <a:solidFill>
                  <a:srgbClr val="5E7085"/>
                </a:solidFill>
                <a:latin typeface="Aptos"/>
              </a:rPr>
              <a:t>Users ask questions in everyday language instead of searching long documents manually.</a:t>
            </a:r>
          </a:p>
        </p:txBody>
      </p:sp>
      <p:sp>
        <p:nvSpPr>
          <p:cNvPr id="11" name="Rounded Rectangle 10"/>
          <p:cNvSpPr/>
          <p:nvPr/>
        </p:nvSpPr>
        <p:spPr>
          <a:xfrm>
            <a:off x="4389120" y="2514600"/>
            <a:ext cx="3429000" cy="205740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2514600"/>
            <a:ext cx="73152" cy="2057400"/>
          </a:xfrm>
          <a:prstGeom prst="rect">
            <a:avLst/>
          </a:prstGeom>
          <a:solidFill>
            <a:srgbClr val="182F52"/>
          </a:solidFill>
          <a:ln>
            <a:solidFill>
              <a:srgbClr val="182F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2679192"/>
            <a:ext cx="3063240" cy="347472"/>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Knowledge-grounded</a:t>
            </a:r>
          </a:p>
        </p:txBody>
      </p:sp>
      <p:sp>
        <p:nvSpPr>
          <p:cNvPr id="14" name="TextBox 13"/>
          <p:cNvSpPr txBox="1"/>
          <p:nvPr/>
        </p:nvSpPr>
        <p:spPr>
          <a:xfrm>
            <a:off x="4590288" y="3127248"/>
            <a:ext cx="3044952" cy="1307592"/>
          </a:xfrm>
          <a:prstGeom prst="rect">
            <a:avLst/>
          </a:prstGeom>
          <a:noFill/>
        </p:spPr>
        <p:txBody>
          <a:bodyPr wrap="square" lIns="27432" rIns="27432" tIns="27432" bIns="27432" anchor="t">
            <a:spAutoFit/>
          </a:bodyPr>
          <a:lstStyle/>
          <a:p>
            <a:pPr algn="l">
              <a:spcAft>
                <a:spcPts val="0"/>
              </a:spcAft>
            </a:pPr>
            <a:r>
              <a:rPr sz="1500" b="0" i="0">
                <a:solidFill>
                  <a:srgbClr val="5E7085"/>
                </a:solidFill>
                <a:latin typeface="Aptos"/>
              </a:rPr>
              <a:t>The proposed RAG flow retrieves relevant passages before drafting a response.</a:t>
            </a:r>
          </a:p>
        </p:txBody>
      </p:sp>
      <p:sp>
        <p:nvSpPr>
          <p:cNvPr id="15" name="Rounded Rectangle 14"/>
          <p:cNvSpPr/>
          <p:nvPr/>
        </p:nvSpPr>
        <p:spPr>
          <a:xfrm>
            <a:off x="8001000" y="2514600"/>
            <a:ext cx="3429000" cy="205740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01000" y="2514600"/>
            <a:ext cx="73152" cy="2057400"/>
          </a:xfrm>
          <a:prstGeom prst="rect">
            <a:avLst/>
          </a:prstGeom>
          <a:solidFill>
            <a:srgbClr val="F5B744"/>
          </a:solidFill>
          <a:ln>
            <a:solidFill>
              <a:srgbClr val="F5B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02168" y="2679192"/>
            <a:ext cx="3063240" cy="347472"/>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Safety-aware</a:t>
            </a:r>
          </a:p>
        </p:txBody>
      </p:sp>
      <p:sp>
        <p:nvSpPr>
          <p:cNvPr id="18" name="TextBox 17"/>
          <p:cNvSpPr txBox="1"/>
          <p:nvPr/>
        </p:nvSpPr>
        <p:spPr>
          <a:xfrm>
            <a:off x="8202168" y="3127248"/>
            <a:ext cx="3044952" cy="1307592"/>
          </a:xfrm>
          <a:prstGeom prst="rect">
            <a:avLst/>
          </a:prstGeom>
          <a:noFill/>
        </p:spPr>
        <p:txBody>
          <a:bodyPr wrap="square" lIns="27432" rIns="27432" tIns="27432" bIns="27432" anchor="t">
            <a:spAutoFit/>
          </a:bodyPr>
          <a:lstStyle/>
          <a:p>
            <a:pPr algn="l">
              <a:spcAft>
                <a:spcPts val="0"/>
              </a:spcAft>
            </a:pPr>
            <a:r>
              <a:rPr sz="1500" b="0" i="0">
                <a:solidFill>
                  <a:srgbClr val="5E7085"/>
                </a:solidFill>
                <a:latin typeface="Aptos"/>
              </a:rPr>
              <a:t>The system should state its limits and avoid diagnosis or treatment instructions.</a:t>
            </a:r>
          </a:p>
        </p:txBody>
      </p:sp>
      <p:sp>
        <p:nvSpPr>
          <p:cNvPr id="19" name="Rounded Rectangle 18"/>
          <p:cNvSpPr/>
          <p:nvPr/>
        </p:nvSpPr>
        <p:spPr>
          <a:xfrm>
            <a:off x="3154680" y="5166360"/>
            <a:ext cx="5852160" cy="347472"/>
          </a:xfrm>
          <a:prstGeom prst="roundRect">
            <a:avLst/>
          </a:prstGeom>
          <a:solidFill>
            <a:srgbClr val="E1F3F5"/>
          </a:solidFill>
          <a:ln>
            <a:solidFill>
              <a:srgbClr val="E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91256" y="5184648"/>
            <a:ext cx="5779008" cy="283464"/>
          </a:xfrm>
          <a:prstGeom prst="rect">
            <a:avLst/>
          </a:prstGeom>
          <a:noFill/>
        </p:spPr>
        <p:txBody>
          <a:bodyPr wrap="square" lIns="27432" rIns="27432" tIns="27432" bIns="27432" anchor="ctr">
            <a:spAutoFit/>
          </a:bodyPr>
          <a:lstStyle/>
          <a:p>
            <a:pPr algn="ctr">
              <a:spcAft>
                <a:spcPts val="0"/>
              </a:spcAft>
            </a:pPr>
            <a:r>
              <a:rPr sz="1100" b="1" i="0">
                <a:solidFill>
                  <a:srgbClr val="0F1F3A"/>
                </a:solidFill>
                <a:latin typeface="Aptos"/>
              </a:rPr>
              <a:t>Project type: proposed design / technical learning report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9FC"/>
        </a:solidFill>
        <a:effectLst/>
      </p:bgPr>
    </p:bg>
    <p:spTree>
      <p:nvGrpSpPr>
        <p:cNvPr id="1" name=""/>
        <p:cNvGrpSpPr/>
        <p:nvPr/>
      </p:nvGrpSpPr>
      <p:grpSpPr/>
      <p:sp>
        <p:nvSpPr>
          <p:cNvPr id="2" name="TextBox 1"/>
          <p:cNvSpPr txBox="1"/>
          <p:nvPr/>
        </p:nvSpPr>
        <p:spPr>
          <a:xfrm>
            <a:off x="594360" y="347472"/>
            <a:ext cx="10789920" cy="502920"/>
          </a:xfrm>
          <a:prstGeom prst="rect">
            <a:avLst/>
          </a:prstGeom>
          <a:noFill/>
        </p:spPr>
        <p:txBody>
          <a:bodyPr wrap="square" lIns="27432" rIns="27432" tIns="27432" bIns="27432" anchor="t">
            <a:spAutoFit/>
          </a:bodyPr>
          <a:lstStyle/>
          <a:p>
            <a:pPr algn="l">
              <a:spcAft>
                <a:spcPts val="0"/>
              </a:spcAft>
            </a:pPr>
            <a:r>
              <a:rPr sz="2700" b="1" i="0">
                <a:solidFill>
                  <a:srgbClr val="0F1F3A"/>
                </a:solidFill>
                <a:latin typeface="Aptos"/>
              </a:rPr>
              <a:t>Problem Statement</a:t>
            </a:r>
          </a:p>
        </p:txBody>
      </p:sp>
      <p:sp>
        <p:nvSpPr>
          <p:cNvPr id="3" name="Rectangle 2"/>
          <p:cNvSpPr/>
          <p:nvPr/>
        </p:nvSpPr>
        <p:spPr>
          <a:xfrm>
            <a:off x="612648" y="960120"/>
            <a:ext cx="713232" cy="50292"/>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0" y="438912"/>
            <a:ext cx="2057400" cy="274320"/>
          </a:xfrm>
          <a:prstGeom prst="rect">
            <a:avLst/>
          </a:prstGeom>
          <a:noFill/>
        </p:spPr>
        <p:txBody>
          <a:bodyPr wrap="square" lIns="27432" rIns="27432" tIns="27432" bIns="27432" anchor="t">
            <a:spAutoFit/>
          </a:bodyPr>
          <a:lstStyle/>
          <a:p>
            <a:pPr algn="r">
              <a:spcAft>
                <a:spcPts val="0"/>
              </a:spcAft>
            </a:pPr>
            <a:r>
              <a:rPr sz="900" b="1" i="0">
                <a:solidFill>
                  <a:srgbClr val="00A6A6"/>
                </a:solidFill>
                <a:latin typeface="Aptos"/>
              </a:rPr>
              <a:t>PROBLEM</a:t>
            </a:r>
          </a:p>
        </p:txBody>
      </p:sp>
      <p:sp>
        <p:nvSpPr>
          <p:cNvPr id="5" name="TextBox 4"/>
          <p:cNvSpPr txBox="1"/>
          <p:nvPr/>
        </p:nvSpPr>
        <p:spPr>
          <a:xfrm>
            <a:off x="9692640" y="6510528"/>
            <a:ext cx="1920240" cy="182880"/>
          </a:xfrm>
          <a:prstGeom prst="rect">
            <a:avLst/>
          </a:prstGeom>
          <a:noFill/>
        </p:spPr>
        <p:txBody>
          <a:bodyPr wrap="square" lIns="27432" rIns="27432" tIns="27432" bIns="27432" anchor="t">
            <a:spAutoFit/>
          </a:bodyPr>
          <a:lstStyle/>
          <a:p>
            <a:pPr algn="r">
              <a:spcAft>
                <a:spcPts val="0"/>
              </a:spcAft>
            </a:pPr>
            <a:r>
              <a:rPr sz="900" b="0" i="0">
                <a:solidFill>
                  <a:srgbClr val="5E7085"/>
                </a:solidFill>
                <a:latin typeface="Aptos"/>
              </a:rPr>
              <a:t>05  |  CAREBOT</a:t>
            </a:r>
          </a:p>
        </p:txBody>
      </p:sp>
      <p:sp>
        <p:nvSpPr>
          <p:cNvPr id="6" name="TextBox 5"/>
          <p:cNvSpPr txBox="1"/>
          <p:nvPr/>
        </p:nvSpPr>
        <p:spPr>
          <a:xfrm>
            <a:off x="777240" y="1325880"/>
            <a:ext cx="10332720" cy="502920"/>
          </a:xfrm>
          <a:prstGeom prst="rect">
            <a:avLst/>
          </a:prstGeom>
          <a:noFill/>
        </p:spPr>
        <p:txBody>
          <a:bodyPr wrap="square" lIns="27432" rIns="27432" tIns="27432" bIns="27432" anchor="t">
            <a:spAutoFit/>
          </a:bodyPr>
          <a:lstStyle/>
          <a:p>
            <a:pPr algn="l">
              <a:spcAft>
                <a:spcPts val="0"/>
              </a:spcAft>
            </a:pPr>
            <a:r>
              <a:rPr sz="2300" b="1" i="0">
                <a:solidFill>
                  <a:srgbClr val="0F1F3A"/>
                </a:solidFill>
                <a:latin typeface="Aptos"/>
              </a:rPr>
              <a:t>Medical information can be difficult to locate and easy to misunderstand.</a:t>
            </a:r>
          </a:p>
        </p:txBody>
      </p:sp>
      <p:sp>
        <p:nvSpPr>
          <p:cNvPr id="7" name="Rounded Rectangle 6"/>
          <p:cNvSpPr/>
          <p:nvPr/>
        </p:nvSpPr>
        <p:spPr>
          <a:xfrm>
            <a:off x="777240" y="2148840"/>
            <a:ext cx="3383280" cy="201168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2011680"/>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13432"/>
            <a:ext cx="3017520" cy="347472"/>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Long documents</a:t>
            </a:r>
          </a:p>
        </p:txBody>
      </p:sp>
      <p:sp>
        <p:nvSpPr>
          <p:cNvPr id="10" name="TextBox 9"/>
          <p:cNvSpPr txBox="1"/>
          <p:nvPr/>
        </p:nvSpPr>
        <p:spPr>
          <a:xfrm>
            <a:off x="978408" y="2761488"/>
            <a:ext cx="2999232" cy="1261872"/>
          </a:xfrm>
          <a:prstGeom prst="rect">
            <a:avLst/>
          </a:prstGeom>
          <a:noFill/>
        </p:spPr>
        <p:txBody>
          <a:bodyPr wrap="square" lIns="27432" rIns="27432" tIns="27432" bIns="27432" anchor="t">
            <a:spAutoFit/>
          </a:bodyPr>
          <a:lstStyle/>
          <a:p>
            <a:pPr algn="l">
              <a:spcAft>
                <a:spcPts val="0"/>
              </a:spcAft>
            </a:pPr>
            <a:r>
              <a:rPr sz="1600" b="0" i="0">
                <a:solidFill>
                  <a:srgbClr val="5E7085"/>
                </a:solidFill>
                <a:latin typeface="Aptos"/>
              </a:rPr>
              <a:t>Useful information may be spread across guides, leaflets and FAQs.</a:t>
            </a:r>
          </a:p>
        </p:txBody>
      </p:sp>
      <p:sp>
        <p:nvSpPr>
          <p:cNvPr id="11" name="Rounded Rectangle 10"/>
          <p:cNvSpPr/>
          <p:nvPr/>
        </p:nvSpPr>
        <p:spPr>
          <a:xfrm>
            <a:off x="4407408" y="2148840"/>
            <a:ext cx="3383280" cy="201168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07408" y="2148840"/>
            <a:ext cx="73152" cy="2011680"/>
          </a:xfrm>
          <a:prstGeom prst="rect">
            <a:avLst/>
          </a:prstGeom>
          <a:solidFill>
            <a:srgbClr val="F5B744"/>
          </a:solidFill>
          <a:ln>
            <a:solidFill>
              <a:srgbClr val="F5B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313432"/>
            <a:ext cx="3017520" cy="347472"/>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Keyword limits</a:t>
            </a:r>
          </a:p>
        </p:txBody>
      </p:sp>
      <p:sp>
        <p:nvSpPr>
          <p:cNvPr id="14" name="TextBox 13"/>
          <p:cNvSpPr txBox="1"/>
          <p:nvPr/>
        </p:nvSpPr>
        <p:spPr>
          <a:xfrm>
            <a:off x="4608576" y="2761488"/>
            <a:ext cx="2999232" cy="1261872"/>
          </a:xfrm>
          <a:prstGeom prst="rect">
            <a:avLst/>
          </a:prstGeom>
          <a:noFill/>
        </p:spPr>
        <p:txBody>
          <a:bodyPr wrap="square" lIns="27432" rIns="27432" tIns="27432" bIns="27432" anchor="t">
            <a:spAutoFit/>
          </a:bodyPr>
          <a:lstStyle/>
          <a:p>
            <a:pPr algn="l">
              <a:spcAft>
                <a:spcPts val="0"/>
              </a:spcAft>
            </a:pPr>
            <a:r>
              <a:rPr sz="1500" b="0" i="0">
                <a:solidFill>
                  <a:srgbClr val="5E7085"/>
                </a:solidFill>
                <a:latin typeface="Aptos"/>
              </a:rPr>
              <a:t>Exact-word search can miss passages with similar meaning but different wording.</a:t>
            </a:r>
          </a:p>
        </p:txBody>
      </p:sp>
      <p:sp>
        <p:nvSpPr>
          <p:cNvPr id="15" name="Rounded Rectangle 14"/>
          <p:cNvSpPr/>
          <p:nvPr/>
        </p:nvSpPr>
        <p:spPr>
          <a:xfrm>
            <a:off x="8037575" y="2148840"/>
            <a:ext cx="3383280" cy="201168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7575" y="2148840"/>
            <a:ext cx="73152" cy="2011680"/>
          </a:xfrm>
          <a:prstGeom prst="rect">
            <a:avLst/>
          </a:prstGeom>
          <a:solidFill>
            <a:srgbClr val="BE4646"/>
          </a:solidFill>
          <a:ln>
            <a:solidFill>
              <a:srgbClr val="BE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38744" y="2313432"/>
            <a:ext cx="3017520" cy="347472"/>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LLM risk</a:t>
            </a:r>
          </a:p>
        </p:txBody>
      </p:sp>
      <p:sp>
        <p:nvSpPr>
          <p:cNvPr id="18" name="TextBox 17"/>
          <p:cNvSpPr txBox="1"/>
          <p:nvPr/>
        </p:nvSpPr>
        <p:spPr>
          <a:xfrm>
            <a:off x="8238744" y="2761488"/>
            <a:ext cx="2999232" cy="1261872"/>
          </a:xfrm>
          <a:prstGeom prst="rect">
            <a:avLst/>
          </a:prstGeom>
          <a:noFill/>
        </p:spPr>
        <p:txBody>
          <a:bodyPr wrap="square" lIns="27432" rIns="27432" tIns="27432" bIns="27432" anchor="t">
            <a:spAutoFit/>
          </a:bodyPr>
          <a:lstStyle/>
          <a:p>
            <a:pPr algn="l">
              <a:spcAft>
                <a:spcPts val="0"/>
              </a:spcAft>
            </a:pPr>
            <a:r>
              <a:rPr sz="1500" b="0" i="0">
                <a:solidFill>
                  <a:srgbClr val="5E7085"/>
                </a:solidFill>
                <a:latin typeface="Aptos"/>
              </a:rPr>
              <a:t>A generative model may produce confident answers that are not supported by a trusted source.</a:t>
            </a:r>
          </a:p>
        </p:txBody>
      </p:sp>
      <p:sp>
        <p:nvSpPr>
          <p:cNvPr id="19" name="TextBox 18"/>
          <p:cNvSpPr txBox="1"/>
          <p:nvPr/>
        </p:nvSpPr>
        <p:spPr>
          <a:xfrm>
            <a:off x="1051560" y="4892040"/>
            <a:ext cx="10058400" cy="502920"/>
          </a:xfrm>
          <a:prstGeom prst="rect">
            <a:avLst/>
          </a:prstGeom>
          <a:noFill/>
        </p:spPr>
        <p:txBody>
          <a:bodyPr wrap="square" lIns="27432" rIns="27432" tIns="27432" bIns="27432" anchor="t">
            <a:spAutoFit/>
          </a:bodyPr>
          <a:lstStyle/>
          <a:p>
            <a:pPr algn="ctr">
              <a:spcAft>
                <a:spcPts val="0"/>
              </a:spcAft>
            </a:pPr>
            <a:r>
              <a:rPr sz="1900" b="1" i="0">
                <a:solidFill>
                  <a:srgbClr val="00A6A6"/>
                </a:solidFill>
                <a:latin typeface="Aptos"/>
              </a:rPr>
              <a:t>Need: retrieve relevant source passages and use them to guide the answer.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9FC"/>
        </a:solidFill>
        <a:effectLst/>
      </p:bgPr>
    </p:bg>
    <p:spTree>
      <p:nvGrpSpPr>
        <p:cNvPr id="1" name=""/>
        <p:cNvGrpSpPr/>
        <p:nvPr/>
      </p:nvGrpSpPr>
      <p:grpSpPr/>
      <p:sp>
        <p:nvSpPr>
          <p:cNvPr id="2" name="TextBox 1"/>
          <p:cNvSpPr txBox="1"/>
          <p:nvPr/>
        </p:nvSpPr>
        <p:spPr>
          <a:xfrm>
            <a:off x="594360" y="347472"/>
            <a:ext cx="10789920" cy="502920"/>
          </a:xfrm>
          <a:prstGeom prst="rect">
            <a:avLst/>
          </a:prstGeom>
          <a:noFill/>
        </p:spPr>
        <p:txBody>
          <a:bodyPr wrap="square" lIns="27432" rIns="27432" tIns="27432" bIns="27432" anchor="t">
            <a:spAutoFit/>
          </a:bodyPr>
          <a:lstStyle/>
          <a:p>
            <a:pPr algn="l">
              <a:spcAft>
                <a:spcPts val="0"/>
              </a:spcAft>
            </a:pPr>
            <a:r>
              <a:rPr sz="2700" b="1" i="0">
                <a:solidFill>
                  <a:srgbClr val="0F1F3A"/>
                </a:solidFill>
                <a:latin typeface="Aptos"/>
              </a:rPr>
              <a:t>Objectives of the Project</a:t>
            </a:r>
          </a:p>
        </p:txBody>
      </p:sp>
      <p:sp>
        <p:nvSpPr>
          <p:cNvPr id="3" name="Rectangle 2"/>
          <p:cNvSpPr/>
          <p:nvPr/>
        </p:nvSpPr>
        <p:spPr>
          <a:xfrm>
            <a:off x="612648" y="960120"/>
            <a:ext cx="713232" cy="50292"/>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0" y="438912"/>
            <a:ext cx="2057400" cy="274320"/>
          </a:xfrm>
          <a:prstGeom prst="rect">
            <a:avLst/>
          </a:prstGeom>
          <a:noFill/>
        </p:spPr>
        <p:txBody>
          <a:bodyPr wrap="square" lIns="27432" rIns="27432" tIns="27432" bIns="27432" anchor="t">
            <a:spAutoFit/>
          </a:bodyPr>
          <a:lstStyle/>
          <a:p>
            <a:pPr algn="r">
              <a:spcAft>
                <a:spcPts val="0"/>
              </a:spcAft>
            </a:pPr>
            <a:r>
              <a:rPr sz="900" b="1" i="0">
                <a:solidFill>
                  <a:srgbClr val="00A6A6"/>
                </a:solidFill>
                <a:latin typeface="Aptos"/>
              </a:rPr>
              <a:t>OBJECTIVES</a:t>
            </a:r>
          </a:p>
        </p:txBody>
      </p:sp>
      <p:sp>
        <p:nvSpPr>
          <p:cNvPr id="5" name="TextBox 4"/>
          <p:cNvSpPr txBox="1"/>
          <p:nvPr/>
        </p:nvSpPr>
        <p:spPr>
          <a:xfrm>
            <a:off x="9692640" y="6510528"/>
            <a:ext cx="1920240" cy="182880"/>
          </a:xfrm>
          <a:prstGeom prst="rect">
            <a:avLst/>
          </a:prstGeom>
          <a:noFill/>
        </p:spPr>
        <p:txBody>
          <a:bodyPr wrap="square" lIns="27432" rIns="27432" tIns="27432" bIns="27432" anchor="t">
            <a:spAutoFit/>
          </a:bodyPr>
          <a:lstStyle/>
          <a:p>
            <a:pPr algn="r">
              <a:spcAft>
                <a:spcPts val="0"/>
              </a:spcAft>
            </a:pPr>
            <a:r>
              <a:rPr sz="900" b="0" i="0">
                <a:solidFill>
                  <a:srgbClr val="5E7085"/>
                </a:solidFill>
                <a:latin typeface="Aptos"/>
              </a:rPr>
              <a:t>06  |  CAREBOT</a:t>
            </a:r>
          </a:p>
        </p:txBody>
      </p:sp>
      <p:sp>
        <p:nvSpPr>
          <p:cNvPr id="6" name="Rounded Rectangle 5"/>
          <p:cNvSpPr/>
          <p:nvPr/>
        </p:nvSpPr>
        <p:spPr>
          <a:xfrm>
            <a:off x="777240" y="1325880"/>
            <a:ext cx="5212080" cy="123444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1472184"/>
            <a:ext cx="502920" cy="320040"/>
          </a:xfrm>
          <a:prstGeom prst="rect">
            <a:avLst/>
          </a:prstGeom>
          <a:noFill/>
        </p:spPr>
        <p:txBody>
          <a:bodyPr wrap="square" lIns="27432" rIns="27432" tIns="27432" bIns="27432" anchor="t">
            <a:spAutoFit/>
          </a:bodyPr>
          <a:lstStyle/>
          <a:p>
            <a:pPr algn="l">
              <a:spcAft>
                <a:spcPts val="0"/>
              </a:spcAft>
            </a:pPr>
            <a:r>
              <a:rPr sz="1400" b="1" i="0">
                <a:solidFill>
                  <a:srgbClr val="00A6A6"/>
                </a:solidFill>
                <a:latin typeface="Aptos"/>
              </a:rPr>
              <a:t>01</a:t>
            </a:r>
          </a:p>
        </p:txBody>
      </p:sp>
      <p:sp>
        <p:nvSpPr>
          <p:cNvPr id="8" name="TextBox 7"/>
          <p:cNvSpPr txBox="1"/>
          <p:nvPr/>
        </p:nvSpPr>
        <p:spPr>
          <a:xfrm>
            <a:off x="1554480" y="1435607"/>
            <a:ext cx="4160520" cy="320040"/>
          </a:xfrm>
          <a:prstGeom prst="rect">
            <a:avLst/>
          </a:prstGeom>
          <a:noFill/>
        </p:spPr>
        <p:txBody>
          <a:bodyPr wrap="square" lIns="27432" rIns="27432" tIns="27432" bIns="27432" anchor="t">
            <a:spAutoFit/>
          </a:bodyPr>
          <a:lstStyle/>
          <a:p>
            <a:pPr algn="l">
              <a:spcAft>
                <a:spcPts val="0"/>
              </a:spcAft>
            </a:pPr>
            <a:r>
              <a:rPr sz="1600" b="1" i="0">
                <a:solidFill>
                  <a:srgbClr val="0F1F3A"/>
                </a:solidFill>
                <a:latin typeface="Aptos"/>
              </a:rPr>
              <a:t>Prepare approved medical documents</a:t>
            </a:r>
          </a:p>
        </p:txBody>
      </p:sp>
      <p:sp>
        <p:nvSpPr>
          <p:cNvPr id="9" name="TextBox 8"/>
          <p:cNvSpPr txBox="1"/>
          <p:nvPr/>
        </p:nvSpPr>
        <p:spPr>
          <a:xfrm>
            <a:off x="1554480" y="1828800"/>
            <a:ext cx="4114800" cy="512064"/>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Clean content and divide it into smaller passages.</a:t>
            </a:r>
          </a:p>
        </p:txBody>
      </p:sp>
      <p:sp>
        <p:nvSpPr>
          <p:cNvPr id="10" name="Rounded Rectangle 9"/>
          <p:cNvSpPr/>
          <p:nvPr/>
        </p:nvSpPr>
        <p:spPr>
          <a:xfrm>
            <a:off x="6355079" y="1325880"/>
            <a:ext cx="5212080" cy="123444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1" y="1472184"/>
            <a:ext cx="502920" cy="320040"/>
          </a:xfrm>
          <a:prstGeom prst="rect">
            <a:avLst/>
          </a:prstGeom>
          <a:noFill/>
        </p:spPr>
        <p:txBody>
          <a:bodyPr wrap="square" lIns="27432" rIns="27432" tIns="27432" bIns="27432" anchor="t">
            <a:spAutoFit/>
          </a:bodyPr>
          <a:lstStyle/>
          <a:p>
            <a:pPr algn="l">
              <a:spcAft>
                <a:spcPts val="0"/>
              </a:spcAft>
            </a:pPr>
            <a:r>
              <a:rPr sz="1400" b="1" i="0">
                <a:solidFill>
                  <a:srgbClr val="00A6A6"/>
                </a:solidFill>
                <a:latin typeface="Aptos"/>
              </a:rPr>
              <a:t>02</a:t>
            </a:r>
          </a:p>
        </p:txBody>
      </p:sp>
      <p:sp>
        <p:nvSpPr>
          <p:cNvPr id="12" name="TextBox 11"/>
          <p:cNvSpPr txBox="1"/>
          <p:nvPr/>
        </p:nvSpPr>
        <p:spPr>
          <a:xfrm>
            <a:off x="7132319" y="1435607"/>
            <a:ext cx="4160520" cy="320040"/>
          </a:xfrm>
          <a:prstGeom prst="rect">
            <a:avLst/>
          </a:prstGeom>
          <a:noFill/>
        </p:spPr>
        <p:txBody>
          <a:bodyPr wrap="square" lIns="27432" rIns="27432" tIns="27432" bIns="27432" anchor="t">
            <a:spAutoFit/>
          </a:bodyPr>
          <a:lstStyle/>
          <a:p>
            <a:pPr algn="l">
              <a:spcAft>
                <a:spcPts val="0"/>
              </a:spcAft>
            </a:pPr>
            <a:r>
              <a:rPr sz="1600" b="1" i="0">
                <a:solidFill>
                  <a:srgbClr val="0F1F3A"/>
                </a:solidFill>
                <a:latin typeface="Aptos"/>
              </a:rPr>
              <a:t>Create searchable representations</a:t>
            </a:r>
          </a:p>
        </p:txBody>
      </p:sp>
      <p:sp>
        <p:nvSpPr>
          <p:cNvPr id="13" name="TextBox 12"/>
          <p:cNvSpPr txBox="1"/>
          <p:nvPr/>
        </p:nvSpPr>
        <p:spPr>
          <a:xfrm>
            <a:off x="7132319" y="1828800"/>
            <a:ext cx="4114800" cy="512064"/>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Convert passages into embeddings and index them.</a:t>
            </a:r>
          </a:p>
        </p:txBody>
      </p:sp>
      <p:sp>
        <p:nvSpPr>
          <p:cNvPr id="14" name="Rounded Rectangle 13"/>
          <p:cNvSpPr/>
          <p:nvPr/>
        </p:nvSpPr>
        <p:spPr>
          <a:xfrm>
            <a:off x="777240" y="2834639"/>
            <a:ext cx="5212080" cy="123444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2980944"/>
            <a:ext cx="502920" cy="320040"/>
          </a:xfrm>
          <a:prstGeom prst="rect">
            <a:avLst/>
          </a:prstGeom>
          <a:noFill/>
        </p:spPr>
        <p:txBody>
          <a:bodyPr wrap="square" lIns="27432" rIns="27432" tIns="27432" bIns="27432" anchor="t">
            <a:spAutoFit/>
          </a:bodyPr>
          <a:lstStyle/>
          <a:p>
            <a:pPr algn="l">
              <a:spcAft>
                <a:spcPts val="0"/>
              </a:spcAft>
            </a:pPr>
            <a:r>
              <a:rPr sz="1400" b="1" i="0">
                <a:solidFill>
                  <a:srgbClr val="00A6A6"/>
                </a:solidFill>
                <a:latin typeface="Aptos"/>
              </a:rPr>
              <a:t>03</a:t>
            </a:r>
          </a:p>
        </p:txBody>
      </p:sp>
      <p:sp>
        <p:nvSpPr>
          <p:cNvPr id="16" name="TextBox 15"/>
          <p:cNvSpPr txBox="1"/>
          <p:nvPr/>
        </p:nvSpPr>
        <p:spPr>
          <a:xfrm>
            <a:off x="1554480" y="2944368"/>
            <a:ext cx="4160520" cy="320040"/>
          </a:xfrm>
          <a:prstGeom prst="rect">
            <a:avLst/>
          </a:prstGeom>
          <a:noFill/>
        </p:spPr>
        <p:txBody>
          <a:bodyPr wrap="square" lIns="27432" rIns="27432" tIns="27432" bIns="27432" anchor="t">
            <a:spAutoFit/>
          </a:bodyPr>
          <a:lstStyle/>
          <a:p>
            <a:pPr algn="l">
              <a:spcAft>
                <a:spcPts val="0"/>
              </a:spcAft>
            </a:pPr>
            <a:r>
              <a:rPr sz="1600" b="1" i="0">
                <a:solidFill>
                  <a:srgbClr val="0F1F3A"/>
                </a:solidFill>
                <a:latin typeface="Aptos"/>
              </a:rPr>
              <a:t>Retrieve relevant context</a:t>
            </a:r>
          </a:p>
        </p:txBody>
      </p:sp>
      <p:sp>
        <p:nvSpPr>
          <p:cNvPr id="17" name="TextBox 16"/>
          <p:cNvSpPr txBox="1"/>
          <p:nvPr/>
        </p:nvSpPr>
        <p:spPr>
          <a:xfrm>
            <a:off x="1554480" y="3337559"/>
            <a:ext cx="4114800" cy="512064"/>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Find passages that match a user's question by meaning.</a:t>
            </a:r>
          </a:p>
        </p:txBody>
      </p:sp>
      <p:sp>
        <p:nvSpPr>
          <p:cNvPr id="18" name="Rounded Rectangle 17"/>
          <p:cNvSpPr/>
          <p:nvPr/>
        </p:nvSpPr>
        <p:spPr>
          <a:xfrm>
            <a:off x="6355079" y="2834639"/>
            <a:ext cx="5212080" cy="123444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9671" y="2980944"/>
            <a:ext cx="502920" cy="320040"/>
          </a:xfrm>
          <a:prstGeom prst="rect">
            <a:avLst/>
          </a:prstGeom>
          <a:noFill/>
        </p:spPr>
        <p:txBody>
          <a:bodyPr wrap="square" lIns="27432" rIns="27432" tIns="27432" bIns="27432" anchor="t">
            <a:spAutoFit/>
          </a:bodyPr>
          <a:lstStyle/>
          <a:p>
            <a:pPr algn="l">
              <a:spcAft>
                <a:spcPts val="0"/>
              </a:spcAft>
            </a:pPr>
            <a:r>
              <a:rPr sz="1400" b="1" i="0">
                <a:solidFill>
                  <a:srgbClr val="00A6A6"/>
                </a:solidFill>
                <a:latin typeface="Aptos"/>
              </a:rPr>
              <a:t>04</a:t>
            </a:r>
          </a:p>
        </p:txBody>
      </p:sp>
      <p:sp>
        <p:nvSpPr>
          <p:cNvPr id="20" name="TextBox 19"/>
          <p:cNvSpPr txBox="1"/>
          <p:nvPr/>
        </p:nvSpPr>
        <p:spPr>
          <a:xfrm>
            <a:off x="7132319" y="2944368"/>
            <a:ext cx="4160520" cy="320040"/>
          </a:xfrm>
          <a:prstGeom prst="rect">
            <a:avLst/>
          </a:prstGeom>
          <a:noFill/>
        </p:spPr>
        <p:txBody>
          <a:bodyPr wrap="square" lIns="27432" rIns="27432" tIns="27432" bIns="27432" anchor="t">
            <a:spAutoFit/>
          </a:bodyPr>
          <a:lstStyle/>
          <a:p>
            <a:pPr algn="l">
              <a:spcAft>
                <a:spcPts val="0"/>
              </a:spcAft>
            </a:pPr>
            <a:r>
              <a:rPr sz="1600" b="1" i="0">
                <a:solidFill>
                  <a:srgbClr val="0F1F3A"/>
                </a:solidFill>
                <a:latin typeface="Aptos"/>
              </a:rPr>
              <a:t>Generate a grounded response</a:t>
            </a:r>
          </a:p>
        </p:txBody>
      </p:sp>
      <p:sp>
        <p:nvSpPr>
          <p:cNvPr id="21" name="TextBox 20"/>
          <p:cNvSpPr txBox="1"/>
          <p:nvPr/>
        </p:nvSpPr>
        <p:spPr>
          <a:xfrm>
            <a:off x="7132319" y="3337559"/>
            <a:ext cx="4114800" cy="512064"/>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Use Cohere LLM with the retrieved context.</a:t>
            </a:r>
          </a:p>
        </p:txBody>
      </p:sp>
      <p:sp>
        <p:nvSpPr>
          <p:cNvPr id="22" name="Rounded Rectangle 21"/>
          <p:cNvSpPr/>
          <p:nvPr/>
        </p:nvSpPr>
        <p:spPr>
          <a:xfrm>
            <a:off x="777240" y="4343400"/>
            <a:ext cx="5212080" cy="123444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2" y="4489704"/>
            <a:ext cx="502920" cy="320040"/>
          </a:xfrm>
          <a:prstGeom prst="rect">
            <a:avLst/>
          </a:prstGeom>
          <a:noFill/>
        </p:spPr>
        <p:txBody>
          <a:bodyPr wrap="square" lIns="27432" rIns="27432" tIns="27432" bIns="27432" anchor="t">
            <a:spAutoFit/>
          </a:bodyPr>
          <a:lstStyle/>
          <a:p>
            <a:pPr algn="l">
              <a:spcAft>
                <a:spcPts val="0"/>
              </a:spcAft>
            </a:pPr>
            <a:r>
              <a:rPr sz="1400" b="1" i="0">
                <a:solidFill>
                  <a:srgbClr val="00A6A6"/>
                </a:solidFill>
                <a:latin typeface="Aptos"/>
              </a:rPr>
              <a:t>05</a:t>
            </a:r>
          </a:p>
        </p:txBody>
      </p:sp>
      <p:sp>
        <p:nvSpPr>
          <p:cNvPr id="24" name="TextBox 23"/>
          <p:cNvSpPr txBox="1"/>
          <p:nvPr/>
        </p:nvSpPr>
        <p:spPr>
          <a:xfrm>
            <a:off x="1554480" y="4453128"/>
            <a:ext cx="4160520" cy="320040"/>
          </a:xfrm>
          <a:prstGeom prst="rect">
            <a:avLst/>
          </a:prstGeom>
          <a:noFill/>
        </p:spPr>
        <p:txBody>
          <a:bodyPr wrap="square" lIns="27432" rIns="27432" tIns="27432" bIns="27432" anchor="t">
            <a:spAutoFit/>
          </a:bodyPr>
          <a:lstStyle/>
          <a:p>
            <a:pPr algn="l">
              <a:spcAft>
                <a:spcPts val="0"/>
              </a:spcAft>
            </a:pPr>
            <a:r>
              <a:rPr sz="1600" b="1" i="0">
                <a:solidFill>
                  <a:srgbClr val="0F1F3A"/>
                </a:solidFill>
                <a:latin typeface="Aptos"/>
              </a:rPr>
              <a:t>Handle missing information safely</a:t>
            </a:r>
          </a:p>
        </p:txBody>
      </p:sp>
      <p:sp>
        <p:nvSpPr>
          <p:cNvPr id="25" name="TextBox 24"/>
          <p:cNvSpPr txBox="1"/>
          <p:nvPr/>
        </p:nvSpPr>
        <p:spPr>
          <a:xfrm>
            <a:off x="1554480" y="4846320"/>
            <a:ext cx="4114800" cy="512064"/>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Use a fallback instead of guessing.</a:t>
            </a:r>
          </a:p>
        </p:txBody>
      </p:sp>
      <p:sp>
        <p:nvSpPr>
          <p:cNvPr id="26" name="Rounded Rectangle 25"/>
          <p:cNvSpPr/>
          <p:nvPr/>
        </p:nvSpPr>
        <p:spPr>
          <a:xfrm>
            <a:off x="6355079" y="4343400"/>
            <a:ext cx="5212080" cy="123444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19671" y="4489704"/>
            <a:ext cx="502920" cy="320040"/>
          </a:xfrm>
          <a:prstGeom prst="rect">
            <a:avLst/>
          </a:prstGeom>
          <a:noFill/>
        </p:spPr>
        <p:txBody>
          <a:bodyPr wrap="square" lIns="27432" rIns="27432" tIns="27432" bIns="27432" anchor="t">
            <a:spAutoFit/>
          </a:bodyPr>
          <a:lstStyle/>
          <a:p>
            <a:pPr algn="l">
              <a:spcAft>
                <a:spcPts val="0"/>
              </a:spcAft>
            </a:pPr>
            <a:r>
              <a:rPr sz="1400" b="1" i="0">
                <a:solidFill>
                  <a:srgbClr val="00A6A6"/>
                </a:solidFill>
                <a:latin typeface="Aptos"/>
              </a:rPr>
              <a:t>06</a:t>
            </a:r>
          </a:p>
        </p:txBody>
      </p:sp>
      <p:sp>
        <p:nvSpPr>
          <p:cNvPr id="28" name="TextBox 27"/>
          <p:cNvSpPr txBox="1"/>
          <p:nvPr/>
        </p:nvSpPr>
        <p:spPr>
          <a:xfrm>
            <a:off x="7132319" y="4453128"/>
            <a:ext cx="4160520" cy="320040"/>
          </a:xfrm>
          <a:prstGeom prst="rect">
            <a:avLst/>
          </a:prstGeom>
          <a:noFill/>
        </p:spPr>
        <p:txBody>
          <a:bodyPr wrap="square" lIns="27432" rIns="27432" tIns="27432" bIns="27432" anchor="t">
            <a:spAutoFit/>
          </a:bodyPr>
          <a:lstStyle/>
          <a:p>
            <a:pPr algn="l">
              <a:spcAft>
                <a:spcPts val="0"/>
              </a:spcAft>
            </a:pPr>
            <a:r>
              <a:rPr sz="1600" b="1" i="0">
                <a:solidFill>
                  <a:srgbClr val="0F1F3A"/>
                </a:solidFill>
                <a:latin typeface="Aptos"/>
              </a:rPr>
              <a:t>Plan systematic evaluation</a:t>
            </a:r>
          </a:p>
        </p:txBody>
      </p:sp>
      <p:sp>
        <p:nvSpPr>
          <p:cNvPr id="29" name="TextBox 28"/>
          <p:cNvSpPr txBox="1"/>
          <p:nvPr/>
        </p:nvSpPr>
        <p:spPr>
          <a:xfrm>
            <a:off x="7132319" y="4846320"/>
            <a:ext cx="4114800" cy="512064"/>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Assess relevance, faithfulness, clarity and safe refusal.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9FC"/>
        </a:solidFill>
        <a:effectLst/>
      </p:bgPr>
    </p:bg>
    <p:spTree>
      <p:nvGrpSpPr>
        <p:cNvPr id="1" name=""/>
        <p:cNvGrpSpPr/>
        <p:nvPr/>
      </p:nvGrpSpPr>
      <p:grpSpPr/>
      <p:sp>
        <p:nvSpPr>
          <p:cNvPr id="2" name="TextBox 1"/>
          <p:cNvSpPr txBox="1"/>
          <p:nvPr/>
        </p:nvSpPr>
        <p:spPr>
          <a:xfrm>
            <a:off x="594360" y="347472"/>
            <a:ext cx="10789920" cy="502920"/>
          </a:xfrm>
          <a:prstGeom prst="rect">
            <a:avLst/>
          </a:prstGeom>
          <a:noFill/>
        </p:spPr>
        <p:txBody>
          <a:bodyPr wrap="square" lIns="27432" rIns="27432" tIns="27432" bIns="27432" anchor="t">
            <a:spAutoFit/>
          </a:bodyPr>
          <a:lstStyle/>
          <a:p>
            <a:pPr algn="l">
              <a:spcAft>
                <a:spcPts val="0"/>
              </a:spcAft>
            </a:pPr>
            <a:r>
              <a:rPr sz="2700" b="1" i="0">
                <a:solidFill>
                  <a:srgbClr val="0F1F3A"/>
                </a:solidFill>
                <a:latin typeface="Aptos"/>
              </a:rPr>
              <a:t>Project Scope</a:t>
            </a:r>
          </a:p>
        </p:txBody>
      </p:sp>
      <p:sp>
        <p:nvSpPr>
          <p:cNvPr id="3" name="Rectangle 2"/>
          <p:cNvSpPr/>
          <p:nvPr/>
        </p:nvSpPr>
        <p:spPr>
          <a:xfrm>
            <a:off x="612648" y="960120"/>
            <a:ext cx="713232" cy="50292"/>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0" y="438912"/>
            <a:ext cx="2057400" cy="274320"/>
          </a:xfrm>
          <a:prstGeom prst="rect">
            <a:avLst/>
          </a:prstGeom>
          <a:noFill/>
        </p:spPr>
        <p:txBody>
          <a:bodyPr wrap="square" lIns="27432" rIns="27432" tIns="27432" bIns="27432" anchor="t">
            <a:spAutoFit/>
          </a:bodyPr>
          <a:lstStyle/>
          <a:p>
            <a:pPr algn="r">
              <a:spcAft>
                <a:spcPts val="0"/>
              </a:spcAft>
            </a:pPr>
            <a:r>
              <a:rPr sz="900" b="1" i="0">
                <a:solidFill>
                  <a:srgbClr val="00A6A6"/>
                </a:solidFill>
                <a:latin typeface="Aptos"/>
              </a:rPr>
              <a:t>SCOPE</a:t>
            </a:r>
          </a:p>
        </p:txBody>
      </p:sp>
      <p:sp>
        <p:nvSpPr>
          <p:cNvPr id="5" name="TextBox 4"/>
          <p:cNvSpPr txBox="1"/>
          <p:nvPr/>
        </p:nvSpPr>
        <p:spPr>
          <a:xfrm>
            <a:off x="9692640" y="6510528"/>
            <a:ext cx="1920240" cy="182880"/>
          </a:xfrm>
          <a:prstGeom prst="rect">
            <a:avLst/>
          </a:prstGeom>
          <a:noFill/>
        </p:spPr>
        <p:txBody>
          <a:bodyPr wrap="square" lIns="27432" rIns="27432" tIns="27432" bIns="27432" anchor="t">
            <a:spAutoFit/>
          </a:bodyPr>
          <a:lstStyle/>
          <a:p>
            <a:pPr algn="r">
              <a:spcAft>
                <a:spcPts val="0"/>
              </a:spcAft>
            </a:pPr>
            <a:r>
              <a:rPr sz="900" b="0" i="0">
                <a:solidFill>
                  <a:srgbClr val="5E7085"/>
                </a:solidFill>
                <a:latin typeface="Aptos"/>
              </a:rPr>
              <a:t>07  |  CAREBOT</a:t>
            </a:r>
          </a:p>
        </p:txBody>
      </p:sp>
      <p:sp>
        <p:nvSpPr>
          <p:cNvPr id="6" name="Rounded Rectangle 5"/>
          <p:cNvSpPr/>
          <p:nvPr/>
        </p:nvSpPr>
        <p:spPr>
          <a:xfrm>
            <a:off x="777240" y="1417320"/>
            <a:ext cx="5074920" cy="182880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417320"/>
            <a:ext cx="73152" cy="1828800"/>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1581912"/>
            <a:ext cx="4709159" cy="347472"/>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Included</a:t>
            </a:r>
          </a:p>
        </p:txBody>
      </p:sp>
      <p:sp>
        <p:nvSpPr>
          <p:cNvPr id="9" name="TextBox 8"/>
          <p:cNvSpPr txBox="1"/>
          <p:nvPr/>
        </p:nvSpPr>
        <p:spPr>
          <a:xfrm>
            <a:off x="978408" y="2029968"/>
            <a:ext cx="4690872" cy="1078992"/>
          </a:xfrm>
          <a:prstGeom prst="rect">
            <a:avLst/>
          </a:prstGeom>
          <a:noFill/>
        </p:spPr>
        <p:txBody>
          <a:bodyPr wrap="square" lIns="27432" rIns="27432" tIns="27432" bIns="27432" anchor="t">
            <a:spAutoFit/>
          </a:bodyPr>
          <a:lstStyle/>
          <a:p>
            <a:pPr algn="l">
              <a:spcAft>
                <a:spcPts val="0"/>
              </a:spcAft>
            </a:pPr>
            <a:r>
              <a:rPr sz="1500" b="0" i="0">
                <a:solidFill>
                  <a:srgbClr val="5E7085"/>
                </a:solidFill>
                <a:latin typeface="Aptos"/>
              </a:rPr>
              <a:t>• General medical education
• Retrieval from approved documents
• Context-based answer drafting
• Safe fallback when context is missing</a:t>
            </a:r>
          </a:p>
        </p:txBody>
      </p:sp>
      <p:sp>
        <p:nvSpPr>
          <p:cNvPr id="10" name="Rounded Rectangle 9"/>
          <p:cNvSpPr/>
          <p:nvPr/>
        </p:nvSpPr>
        <p:spPr>
          <a:xfrm>
            <a:off x="6217920" y="1417320"/>
            <a:ext cx="5074920" cy="182880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417320"/>
            <a:ext cx="73152" cy="1828800"/>
          </a:xfrm>
          <a:prstGeom prst="rect">
            <a:avLst/>
          </a:prstGeom>
          <a:solidFill>
            <a:srgbClr val="BE4646"/>
          </a:solidFill>
          <a:ln>
            <a:solidFill>
              <a:srgbClr val="BE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9088" y="1581912"/>
            <a:ext cx="4709159" cy="347472"/>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Not included</a:t>
            </a:r>
          </a:p>
        </p:txBody>
      </p:sp>
      <p:sp>
        <p:nvSpPr>
          <p:cNvPr id="13" name="TextBox 12"/>
          <p:cNvSpPr txBox="1"/>
          <p:nvPr/>
        </p:nvSpPr>
        <p:spPr>
          <a:xfrm>
            <a:off x="6419088" y="2029968"/>
            <a:ext cx="4690872" cy="1078992"/>
          </a:xfrm>
          <a:prstGeom prst="rect">
            <a:avLst/>
          </a:prstGeom>
          <a:noFill/>
        </p:spPr>
        <p:txBody>
          <a:bodyPr wrap="square" lIns="27432" rIns="27432" tIns="27432" bIns="27432" anchor="t">
            <a:spAutoFit/>
          </a:bodyPr>
          <a:lstStyle/>
          <a:p>
            <a:pPr algn="l">
              <a:spcAft>
                <a:spcPts val="0"/>
              </a:spcAft>
            </a:pPr>
            <a:r>
              <a:rPr sz="1500" b="0" i="0">
                <a:solidFill>
                  <a:srgbClr val="5E7085"/>
                </a:solidFill>
                <a:latin typeface="Aptos"/>
              </a:rPr>
              <a:t>• Medical diagnosis
• Prescriptions or dosage advice
• Emergency assessment
• Replacement for a clinician</a:t>
            </a:r>
          </a:p>
        </p:txBody>
      </p:sp>
      <p:sp>
        <p:nvSpPr>
          <p:cNvPr id="14" name="Rounded Rectangle 13"/>
          <p:cNvSpPr/>
          <p:nvPr/>
        </p:nvSpPr>
        <p:spPr>
          <a:xfrm>
            <a:off x="1280160" y="3977639"/>
            <a:ext cx="9601200" cy="1051560"/>
          </a:xfrm>
          <a:prstGeom prst="roundRect">
            <a:avLst/>
          </a:prstGeom>
          <a:solidFill>
            <a:srgbClr val="E1F3F5"/>
          </a:solidFill>
          <a:ln>
            <a:solidFill>
              <a:srgbClr val="E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54480" y="4187952"/>
            <a:ext cx="1645920" cy="292608"/>
          </a:xfrm>
          <a:prstGeom prst="rect">
            <a:avLst/>
          </a:prstGeom>
          <a:noFill/>
        </p:spPr>
        <p:txBody>
          <a:bodyPr wrap="square" lIns="27432" rIns="27432" tIns="27432" bIns="27432" anchor="t">
            <a:spAutoFit/>
          </a:bodyPr>
          <a:lstStyle/>
          <a:p>
            <a:pPr algn="l">
              <a:spcAft>
                <a:spcPts val="0"/>
              </a:spcAft>
            </a:pPr>
            <a:r>
              <a:rPr sz="1600" b="1" i="0">
                <a:solidFill>
                  <a:srgbClr val="00A6A6"/>
                </a:solidFill>
                <a:latin typeface="Aptos"/>
              </a:rPr>
              <a:t>Design principle</a:t>
            </a:r>
          </a:p>
        </p:txBody>
      </p:sp>
      <p:sp>
        <p:nvSpPr>
          <p:cNvPr id="16" name="TextBox 15"/>
          <p:cNvSpPr txBox="1"/>
          <p:nvPr/>
        </p:nvSpPr>
        <p:spPr>
          <a:xfrm>
            <a:off x="3200400" y="4160520"/>
            <a:ext cx="7223760" cy="475488"/>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Inform, explain uncertainty, and refer personal medical decisions to qualified professionals.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9FC"/>
        </a:solidFill>
        <a:effectLst/>
      </p:bgPr>
    </p:bg>
    <p:spTree>
      <p:nvGrpSpPr>
        <p:cNvPr id="1" name=""/>
        <p:cNvGrpSpPr/>
        <p:nvPr/>
      </p:nvGrpSpPr>
      <p:grpSpPr/>
      <p:sp>
        <p:nvSpPr>
          <p:cNvPr id="2" name="TextBox 1"/>
          <p:cNvSpPr txBox="1"/>
          <p:nvPr/>
        </p:nvSpPr>
        <p:spPr>
          <a:xfrm>
            <a:off x="594360" y="347472"/>
            <a:ext cx="10789920" cy="502920"/>
          </a:xfrm>
          <a:prstGeom prst="rect">
            <a:avLst/>
          </a:prstGeom>
          <a:noFill/>
        </p:spPr>
        <p:txBody>
          <a:bodyPr wrap="square" lIns="27432" rIns="27432" tIns="27432" bIns="27432" anchor="t">
            <a:spAutoFit/>
          </a:bodyPr>
          <a:lstStyle/>
          <a:p>
            <a:pPr algn="l">
              <a:spcAft>
                <a:spcPts val="0"/>
              </a:spcAft>
            </a:pPr>
            <a:r>
              <a:rPr sz="2700" b="1" i="0">
                <a:solidFill>
                  <a:srgbClr val="0F1F3A"/>
                </a:solidFill>
                <a:latin typeface="Aptos"/>
              </a:rPr>
              <a:t>Technology Background</a:t>
            </a:r>
          </a:p>
        </p:txBody>
      </p:sp>
      <p:sp>
        <p:nvSpPr>
          <p:cNvPr id="3" name="Rectangle 2"/>
          <p:cNvSpPr/>
          <p:nvPr/>
        </p:nvSpPr>
        <p:spPr>
          <a:xfrm>
            <a:off x="612648" y="960120"/>
            <a:ext cx="713232" cy="50292"/>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0" y="438912"/>
            <a:ext cx="2057400" cy="274320"/>
          </a:xfrm>
          <a:prstGeom prst="rect">
            <a:avLst/>
          </a:prstGeom>
          <a:noFill/>
        </p:spPr>
        <p:txBody>
          <a:bodyPr wrap="square" lIns="27432" rIns="27432" tIns="27432" bIns="27432" anchor="t">
            <a:spAutoFit/>
          </a:bodyPr>
          <a:lstStyle/>
          <a:p>
            <a:pPr algn="r">
              <a:spcAft>
                <a:spcPts val="0"/>
              </a:spcAft>
            </a:pPr>
            <a:r>
              <a:rPr sz="900" b="1" i="0">
                <a:solidFill>
                  <a:srgbClr val="00A6A6"/>
                </a:solidFill>
                <a:latin typeface="Aptos"/>
              </a:rPr>
              <a:t>TECHNOLOGIES</a:t>
            </a:r>
          </a:p>
        </p:txBody>
      </p:sp>
      <p:sp>
        <p:nvSpPr>
          <p:cNvPr id="5" name="TextBox 4"/>
          <p:cNvSpPr txBox="1"/>
          <p:nvPr/>
        </p:nvSpPr>
        <p:spPr>
          <a:xfrm>
            <a:off x="9692640" y="6510528"/>
            <a:ext cx="1920240" cy="182880"/>
          </a:xfrm>
          <a:prstGeom prst="rect">
            <a:avLst/>
          </a:prstGeom>
          <a:noFill/>
        </p:spPr>
        <p:txBody>
          <a:bodyPr wrap="square" lIns="27432" rIns="27432" tIns="27432" bIns="27432" anchor="t">
            <a:spAutoFit/>
          </a:bodyPr>
          <a:lstStyle/>
          <a:p>
            <a:pPr algn="r">
              <a:spcAft>
                <a:spcPts val="0"/>
              </a:spcAft>
            </a:pPr>
            <a:r>
              <a:rPr sz="900" b="0" i="0">
                <a:solidFill>
                  <a:srgbClr val="5E7085"/>
                </a:solidFill>
                <a:latin typeface="Aptos"/>
              </a:rPr>
              <a:t>08  |  CAREBOT</a:t>
            </a:r>
          </a:p>
        </p:txBody>
      </p:sp>
      <p:sp>
        <p:nvSpPr>
          <p:cNvPr id="6" name="Rounded Rectangle 5"/>
          <p:cNvSpPr/>
          <p:nvPr/>
        </p:nvSpPr>
        <p:spPr>
          <a:xfrm>
            <a:off x="822960" y="1280160"/>
            <a:ext cx="2148840" cy="658368"/>
          </a:xfrm>
          <a:prstGeom prst="round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19"/>
            <a:ext cx="1965960" cy="310896"/>
          </a:xfrm>
          <a:prstGeom prst="rect">
            <a:avLst/>
          </a:prstGeom>
          <a:noFill/>
        </p:spPr>
        <p:txBody>
          <a:bodyPr wrap="square" lIns="27432" rIns="27432" tIns="27432" bIns="27432" anchor="t">
            <a:spAutoFit/>
          </a:bodyPr>
          <a:lstStyle/>
          <a:p>
            <a:pPr algn="ctr">
              <a:spcAft>
                <a:spcPts val="0"/>
              </a:spcAft>
            </a:pPr>
            <a:r>
              <a:rPr sz="1700" b="1" i="0">
                <a:solidFill>
                  <a:srgbClr val="FFFFFF"/>
                </a:solidFill>
                <a:latin typeface="Aptos"/>
              </a:rPr>
              <a:t>RAG</a:t>
            </a:r>
          </a:p>
        </p:txBody>
      </p:sp>
      <p:sp>
        <p:nvSpPr>
          <p:cNvPr id="8" name="TextBox 7"/>
          <p:cNvSpPr txBox="1"/>
          <p:nvPr/>
        </p:nvSpPr>
        <p:spPr>
          <a:xfrm>
            <a:off x="3337560" y="1353312"/>
            <a:ext cx="7589520" cy="502920"/>
          </a:xfrm>
          <a:prstGeom prst="rect">
            <a:avLst/>
          </a:prstGeom>
          <a:noFill/>
        </p:spPr>
        <p:txBody>
          <a:bodyPr wrap="square" lIns="27432" rIns="27432" tIns="27432" bIns="27432" anchor="t">
            <a:spAutoFit/>
          </a:bodyPr>
          <a:lstStyle/>
          <a:p>
            <a:pPr algn="l">
              <a:spcAft>
                <a:spcPts val="0"/>
              </a:spcAft>
            </a:pPr>
            <a:r>
              <a:rPr sz="1500" b="0" i="0">
                <a:solidFill>
                  <a:srgbClr val="213044"/>
                </a:solidFill>
                <a:latin typeface="Aptos"/>
              </a:rPr>
              <a:t>Retrieval-Augmented Generation combines document retrieval with text generation.</a:t>
            </a:r>
          </a:p>
        </p:txBody>
      </p:sp>
      <p:sp>
        <p:nvSpPr>
          <p:cNvPr id="9" name="Rounded Rectangle 8"/>
          <p:cNvSpPr/>
          <p:nvPr/>
        </p:nvSpPr>
        <p:spPr>
          <a:xfrm>
            <a:off x="822960" y="2240280"/>
            <a:ext cx="2148840" cy="658368"/>
          </a:xfrm>
          <a:prstGeom prst="roundRect">
            <a:avLst/>
          </a:prstGeom>
          <a:solidFill>
            <a:srgbClr val="182F52"/>
          </a:solidFill>
          <a:ln>
            <a:solidFill>
              <a:srgbClr val="182F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377440"/>
            <a:ext cx="1965960" cy="310896"/>
          </a:xfrm>
          <a:prstGeom prst="rect">
            <a:avLst/>
          </a:prstGeom>
          <a:noFill/>
        </p:spPr>
        <p:txBody>
          <a:bodyPr wrap="square" lIns="27432" rIns="27432" tIns="27432" bIns="27432" anchor="t">
            <a:spAutoFit/>
          </a:bodyPr>
          <a:lstStyle/>
          <a:p>
            <a:pPr algn="ctr">
              <a:spcAft>
                <a:spcPts val="0"/>
              </a:spcAft>
            </a:pPr>
            <a:r>
              <a:rPr sz="1700" b="1" i="0">
                <a:solidFill>
                  <a:srgbClr val="FFFFFF"/>
                </a:solidFill>
                <a:latin typeface="Aptos"/>
              </a:rPr>
              <a:t>LLM</a:t>
            </a:r>
          </a:p>
        </p:txBody>
      </p:sp>
      <p:sp>
        <p:nvSpPr>
          <p:cNvPr id="11" name="TextBox 10"/>
          <p:cNvSpPr txBox="1"/>
          <p:nvPr/>
        </p:nvSpPr>
        <p:spPr>
          <a:xfrm>
            <a:off x="3337560" y="2313432"/>
            <a:ext cx="7589520" cy="502920"/>
          </a:xfrm>
          <a:prstGeom prst="rect">
            <a:avLst/>
          </a:prstGeom>
          <a:noFill/>
        </p:spPr>
        <p:txBody>
          <a:bodyPr wrap="square" lIns="27432" rIns="27432" tIns="27432" bIns="27432" anchor="t">
            <a:spAutoFit/>
          </a:bodyPr>
          <a:lstStyle/>
          <a:p>
            <a:pPr algn="l">
              <a:spcAft>
                <a:spcPts val="0"/>
              </a:spcAft>
            </a:pPr>
            <a:r>
              <a:rPr sz="1500" b="0" i="0">
                <a:solidFill>
                  <a:srgbClr val="213044"/>
                </a:solidFill>
                <a:latin typeface="Aptos"/>
              </a:rPr>
              <a:t>A Large Language Model generates natural-language responses from prompts and learned patterns.</a:t>
            </a:r>
          </a:p>
        </p:txBody>
      </p:sp>
      <p:sp>
        <p:nvSpPr>
          <p:cNvPr id="12" name="Rounded Rectangle 11"/>
          <p:cNvSpPr/>
          <p:nvPr/>
        </p:nvSpPr>
        <p:spPr>
          <a:xfrm>
            <a:off x="822960" y="3200400"/>
            <a:ext cx="2148840" cy="658368"/>
          </a:xfrm>
          <a:prstGeom prst="roundRect">
            <a:avLst/>
          </a:prstGeom>
          <a:solidFill>
            <a:srgbClr val="F5B744"/>
          </a:solidFill>
          <a:ln>
            <a:solidFill>
              <a:srgbClr val="F5B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37560"/>
            <a:ext cx="1965960" cy="310896"/>
          </a:xfrm>
          <a:prstGeom prst="rect">
            <a:avLst/>
          </a:prstGeom>
          <a:noFill/>
        </p:spPr>
        <p:txBody>
          <a:bodyPr wrap="square" lIns="27432" rIns="27432" tIns="27432" bIns="27432" anchor="t">
            <a:spAutoFit/>
          </a:bodyPr>
          <a:lstStyle/>
          <a:p>
            <a:pPr algn="ctr">
              <a:spcAft>
                <a:spcPts val="0"/>
              </a:spcAft>
            </a:pPr>
            <a:r>
              <a:rPr sz="1700" b="1" i="0">
                <a:solidFill>
                  <a:srgbClr val="FFFFFF"/>
                </a:solidFill>
                <a:latin typeface="Aptos"/>
              </a:rPr>
              <a:t>Embeddings</a:t>
            </a:r>
          </a:p>
        </p:txBody>
      </p:sp>
      <p:sp>
        <p:nvSpPr>
          <p:cNvPr id="14" name="TextBox 13"/>
          <p:cNvSpPr txBox="1"/>
          <p:nvPr/>
        </p:nvSpPr>
        <p:spPr>
          <a:xfrm>
            <a:off x="3337560" y="3273552"/>
            <a:ext cx="7589520" cy="502920"/>
          </a:xfrm>
          <a:prstGeom prst="rect">
            <a:avLst/>
          </a:prstGeom>
          <a:noFill/>
        </p:spPr>
        <p:txBody>
          <a:bodyPr wrap="square" lIns="27432" rIns="27432" tIns="27432" bIns="27432" anchor="t">
            <a:spAutoFit/>
          </a:bodyPr>
          <a:lstStyle/>
          <a:p>
            <a:pPr algn="l">
              <a:spcAft>
                <a:spcPts val="0"/>
              </a:spcAft>
            </a:pPr>
            <a:r>
              <a:rPr sz="1500" b="0" i="0">
                <a:solidFill>
                  <a:srgbClr val="213044"/>
                </a:solidFill>
                <a:latin typeface="Aptos"/>
              </a:rPr>
              <a:t>Numeric vectors representing text, useful for comparing meaning.</a:t>
            </a:r>
          </a:p>
        </p:txBody>
      </p:sp>
      <p:sp>
        <p:nvSpPr>
          <p:cNvPr id="15" name="Rounded Rectangle 14"/>
          <p:cNvSpPr/>
          <p:nvPr/>
        </p:nvSpPr>
        <p:spPr>
          <a:xfrm>
            <a:off x="822960" y="4160520"/>
            <a:ext cx="2148840" cy="658368"/>
          </a:xfrm>
          <a:prstGeom prst="roundRect">
            <a:avLst/>
          </a:prstGeom>
          <a:solidFill>
            <a:srgbClr val="31916A"/>
          </a:solidFill>
          <a:ln>
            <a:solidFill>
              <a:srgbClr val="319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297680"/>
            <a:ext cx="1965960" cy="310896"/>
          </a:xfrm>
          <a:prstGeom prst="rect">
            <a:avLst/>
          </a:prstGeom>
          <a:noFill/>
        </p:spPr>
        <p:txBody>
          <a:bodyPr wrap="square" lIns="27432" rIns="27432" tIns="27432" bIns="27432" anchor="t">
            <a:spAutoFit/>
          </a:bodyPr>
          <a:lstStyle/>
          <a:p>
            <a:pPr algn="ctr">
              <a:spcAft>
                <a:spcPts val="0"/>
              </a:spcAft>
            </a:pPr>
            <a:r>
              <a:rPr sz="1700" b="1" i="0">
                <a:solidFill>
                  <a:srgbClr val="FFFFFF"/>
                </a:solidFill>
                <a:latin typeface="Aptos"/>
              </a:rPr>
              <a:t>Semantic search</a:t>
            </a:r>
          </a:p>
        </p:txBody>
      </p:sp>
      <p:sp>
        <p:nvSpPr>
          <p:cNvPr id="17" name="TextBox 16"/>
          <p:cNvSpPr txBox="1"/>
          <p:nvPr/>
        </p:nvSpPr>
        <p:spPr>
          <a:xfrm>
            <a:off x="3337560" y="4233672"/>
            <a:ext cx="7589520" cy="502920"/>
          </a:xfrm>
          <a:prstGeom prst="rect">
            <a:avLst/>
          </a:prstGeom>
          <a:noFill/>
        </p:spPr>
        <p:txBody>
          <a:bodyPr wrap="square" lIns="27432" rIns="27432" tIns="27432" bIns="27432" anchor="t">
            <a:spAutoFit/>
          </a:bodyPr>
          <a:lstStyle/>
          <a:p>
            <a:pPr algn="l">
              <a:spcAft>
                <a:spcPts val="0"/>
              </a:spcAft>
            </a:pPr>
            <a:r>
              <a:rPr sz="1500" b="0" i="0">
                <a:solidFill>
                  <a:srgbClr val="213044"/>
                </a:solidFill>
                <a:latin typeface="Aptos"/>
              </a:rPr>
              <a:t>Ranks passages by similarity of meaning rather than exact keywords alone.</a:t>
            </a:r>
          </a:p>
        </p:txBody>
      </p:sp>
      <p:sp>
        <p:nvSpPr>
          <p:cNvPr id="18" name="Rounded Rectangle 17"/>
          <p:cNvSpPr/>
          <p:nvPr/>
        </p:nvSpPr>
        <p:spPr>
          <a:xfrm>
            <a:off x="822960" y="5120640"/>
            <a:ext cx="2148840" cy="658368"/>
          </a:xfrm>
          <a:prstGeom prst="roundRect">
            <a:avLst/>
          </a:prstGeom>
          <a:solidFill>
            <a:srgbClr val="BE4646"/>
          </a:solidFill>
          <a:ln>
            <a:solidFill>
              <a:srgbClr val="BE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257800"/>
            <a:ext cx="1965960" cy="310896"/>
          </a:xfrm>
          <a:prstGeom prst="rect">
            <a:avLst/>
          </a:prstGeom>
          <a:noFill/>
        </p:spPr>
        <p:txBody>
          <a:bodyPr wrap="square" lIns="27432" rIns="27432" tIns="27432" bIns="27432" anchor="t">
            <a:spAutoFit/>
          </a:bodyPr>
          <a:lstStyle/>
          <a:p>
            <a:pPr algn="ctr">
              <a:spcAft>
                <a:spcPts val="0"/>
              </a:spcAft>
            </a:pPr>
            <a:r>
              <a:rPr sz="1700" b="1" i="0">
                <a:solidFill>
                  <a:srgbClr val="FFFFFF"/>
                </a:solidFill>
                <a:latin typeface="Aptos"/>
              </a:rPr>
              <a:t>Cohere</a:t>
            </a:r>
          </a:p>
        </p:txBody>
      </p:sp>
      <p:sp>
        <p:nvSpPr>
          <p:cNvPr id="20" name="TextBox 19"/>
          <p:cNvSpPr txBox="1"/>
          <p:nvPr/>
        </p:nvSpPr>
        <p:spPr>
          <a:xfrm>
            <a:off x="3337560" y="5193792"/>
            <a:ext cx="7589520" cy="502920"/>
          </a:xfrm>
          <a:prstGeom prst="rect">
            <a:avLst/>
          </a:prstGeom>
          <a:noFill/>
        </p:spPr>
        <p:txBody>
          <a:bodyPr wrap="square" lIns="27432" rIns="27432" tIns="27432" bIns="27432" anchor="t">
            <a:spAutoFit/>
          </a:bodyPr>
          <a:lstStyle/>
          <a:p>
            <a:pPr algn="l">
              <a:spcAft>
                <a:spcPts val="0"/>
              </a:spcAft>
            </a:pPr>
            <a:r>
              <a:rPr sz="1500" b="0" i="0">
                <a:solidFill>
                  <a:srgbClr val="213044"/>
                </a:solidFill>
                <a:latin typeface="Aptos"/>
              </a:rPr>
              <a:t>Language-model platform proposed for drafting the response from retrieved context.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9FC"/>
        </a:solidFill>
        <a:effectLst/>
      </p:bgPr>
    </p:bg>
    <p:spTree>
      <p:nvGrpSpPr>
        <p:cNvPr id="1" name=""/>
        <p:cNvGrpSpPr/>
        <p:nvPr/>
      </p:nvGrpSpPr>
      <p:grpSpPr/>
      <p:sp>
        <p:nvSpPr>
          <p:cNvPr id="2" name="TextBox 1"/>
          <p:cNvSpPr txBox="1"/>
          <p:nvPr/>
        </p:nvSpPr>
        <p:spPr>
          <a:xfrm>
            <a:off x="594360" y="347472"/>
            <a:ext cx="10789920" cy="502920"/>
          </a:xfrm>
          <a:prstGeom prst="rect">
            <a:avLst/>
          </a:prstGeom>
          <a:noFill/>
        </p:spPr>
        <p:txBody>
          <a:bodyPr wrap="square" lIns="27432" rIns="27432" tIns="27432" bIns="27432" anchor="t">
            <a:spAutoFit/>
          </a:bodyPr>
          <a:lstStyle/>
          <a:p>
            <a:pPr algn="l">
              <a:spcAft>
                <a:spcPts val="0"/>
              </a:spcAft>
            </a:pPr>
            <a:r>
              <a:rPr sz="2700" b="1" i="0">
                <a:solidFill>
                  <a:srgbClr val="0F1F3A"/>
                </a:solidFill>
                <a:latin typeface="Aptos"/>
              </a:rPr>
              <a:t>What Is RAG?</a:t>
            </a:r>
          </a:p>
        </p:txBody>
      </p:sp>
      <p:sp>
        <p:nvSpPr>
          <p:cNvPr id="3" name="Rectangle 2"/>
          <p:cNvSpPr/>
          <p:nvPr/>
        </p:nvSpPr>
        <p:spPr>
          <a:xfrm>
            <a:off x="612648" y="960120"/>
            <a:ext cx="713232" cy="50292"/>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0" y="438912"/>
            <a:ext cx="2057400" cy="274320"/>
          </a:xfrm>
          <a:prstGeom prst="rect">
            <a:avLst/>
          </a:prstGeom>
          <a:noFill/>
        </p:spPr>
        <p:txBody>
          <a:bodyPr wrap="square" lIns="27432" rIns="27432" tIns="27432" bIns="27432" anchor="t">
            <a:spAutoFit/>
          </a:bodyPr>
          <a:lstStyle/>
          <a:p>
            <a:pPr algn="r">
              <a:spcAft>
                <a:spcPts val="0"/>
              </a:spcAft>
            </a:pPr>
            <a:r>
              <a:rPr sz="900" b="1" i="0">
                <a:solidFill>
                  <a:srgbClr val="00A6A6"/>
                </a:solidFill>
                <a:latin typeface="Aptos"/>
              </a:rPr>
              <a:t>CORE CONCEPT</a:t>
            </a:r>
          </a:p>
        </p:txBody>
      </p:sp>
      <p:sp>
        <p:nvSpPr>
          <p:cNvPr id="5" name="TextBox 4"/>
          <p:cNvSpPr txBox="1"/>
          <p:nvPr/>
        </p:nvSpPr>
        <p:spPr>
          <a:xfrm>
            <a:off x="9692640" y="6510528"/>
            <a:ext cx="1920240" cy="182880"/>
          </a:xfrm>
          <a:prstGeom prst="rect">
            <a:avLst/>
          </a:prstGeom>
          <a:noFill/>
        </p:spPr>
        <p:txBody>
          <a:bodyPr wrap="square" lIns="27432" rIns="27432" tIns="27432" bIns="27432" anchor="t">
            <a:spAutoFit/>
          </a:bodyPr>
          <a:lstStyle/>
          <a:p>
            <a:pPr algn="r">
              <a:spcAft>
                <a:spcPts val="0"/>
              </a:spcAft>
            </a:pPr>
            <a:r>
              <a:rPr sz="900" b="0" i="0">
                <a:solidFill>
                  <a:srgbClr val="5E7085"/>
                </a:solidFill>
                <a:latin typeface="Aptos"/>
              </a:rPr>
              <a:t>09  |  CAREBOT</a:t>
            </a:r>
          </a:p>
        </p:txBody>
      </p:sp>
      <p:sp>
        <p:nvSpPr>
          <p:cNvPr id="6" name="TextBox 5"/>
          <p:cNvSpPr txBox="1"/>
          <p:nvPr/>
        </p:nvSpPr>
        <p:spPr>
          <a:xfrm>
            <a:off x="822960" y="1280160"/>
            <a:ext cx="10515600" cy="502920"/>
          </a:xfrm>
          <a:prstGeom prst="rect">
            <a:avLst/>
          </a:prstGeom>
          <a:noFill/>
        </p:spPr>
        <p:txBody>
          <a:bodyPr wrap="square" lIns="27432" rIns="27432" tIns="27432" bIns="27432" anchor="t">
            <a:spAutoFit/>
          </a:bodyPr>
          <a:lstStyle/>
          <a:p>
            <a:pPr algn="ctr">
              <a:spcAft>
                <a:spcPts val="0"/>
              </a:spcAft>
            </a:pPr>
            <a:r>
              <a:rPr sz="2400" b="1" i="0">
                <a:solidFill>
                  <a:srgbClr val="0F1F3A"/>
                </a:solidFill>
                <a:latin typeface="Aptos"/>
              </a:rPr>
              <a:t>RAG = Retrieval-Augmented Generation</a:t>
            </a:r>
          </a:p>
        </p:txBody>
      </p:sp>
      <p:sp>
        <p:nvSpPr>
          <p:cNvPr id="7" name="Rounded Rectangle 6"/>
          <p:cNvSpPr/>
          <p:nvPr/>
        </p:nvSpPr>
        <p:spPr>
          <a:xfrm>
            <a:off x="960120" y="2240280"/>
            <a:ext cx="2743200" cy="1143000"/>
          </a:xfrm>
          <a:prstGeom prst="roundRect">
            <a:avLst/>
          </a:prstGeom>
          <a:solidFill>
            <a:srgbClr val="E6EEF9"/>
          </a:solidFill>
          <a:ln>
            <a:solidFill>
              <a:srgbClr val="E6EE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286000"/>
            <a:ext cx="2560320" cy="1051560"/>
          </a:xfrm>
          <a:prstGeom prst="rect">
            <a:avLst/>
          </a:prstGeom>
          <a:noFill/>
        </p:spPr>
        <p:txBody>
          <a:bodyPr wrap="square" lIns="27432" rIns="27432" tIns="27432" bIns="27432" anchor="ctr">
            <a:spAutoFit/>
          </a:bodyPr>
          <a:lstStyle/>
          <a:p>
            <a:pPr algn="ctr">
              <a:spcAft>
                <a:spcPts val="0"/>
              </a:spcAft>
            </a:pPr>
            <a:r>
              <a:rPr sz="1700" b="1" i="0">
                <a:solidFill>
                  <a:srgbClr val="0F1F3A"/>
                </a:solidFill>
                <a:latin typeface="Aptos"/>
              </a:rPr>
              <a:t>Retrieve relevant
source passages</a:t>
            </a:r>
          </a:p>
        </p:txBody>
      </p:sp>
      <p:sp>
        <p:nvSpPr>
          <p:cNvPr id="9" name="Rounded Rectangle 8"/>
          <p:cNvSpPr/>
          <p:nvPr/>
        </p:nvSpPr>
        <p:spPr>
          <a:xfrm>
            <a:off x="4709160" y="2240280"/>
            <a:ext cx="2743200" cy="1143000"/>
          </a:xfrm>
          <a:prstGeom prst="roundRect">
            <a:avLst/>
          </a:prstGeom>
          <a:solidFill>
            <a:srgbClr val="E1F3F5"/>
          </a:solidFill>
          <a:ln>
            <a:solidFill>
              <a:srgbClr val="E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0600" y="2286000"/>
            <a:ext cx="2560320" cy="1051560"/>
          </a:xfrm>
          <a:prstGeom prst="rect">
            <a:avLst/>
          </a:prstGeom>
          <a:noFill/>
        </p:spPr>
        <p:txBody>
          <a:bodyPr wrap="square" lIns="27432" rIns="27432" tIns="27432" bIns="27432" anchor="ctr">
            <a:spAutoFit/>
          </a:bodyPr>
          <a:lstStyle/>
          <a:p>
            <a:pPr algn="ctr">
              <a:spcAft>
                <a:spcPts val="0"/>
              </a:spcAft>
            </a:pPr>
            <a:r>
              <a:rPr sz="1700" b="1" i="0">
                <a:solidFill>
                  <a:srgbClr val="0F1F3A"/>
                </a:solidFill>
                <a:latin typeface="Aptos"/>
              </a:rPr>
              <a:t>Add passages to
the prompt</a:t>
            </a:r>
          </a:p>
        </p:txBody>
      </p:sp>
      <p:sp>
        <p:nvSpPr>
          <p:cNvPr id="11" name="Rounded Rectangle 10"/>
          <p:cNvSpPr/>
          <p:nvPr/>
        </p:nvSpPr>
        <p:spPr>
          <a:xfrm>
            <a:off x="8458200" y="2240280"/>
            <a:ext cx="2743200" cy="1143000"/>
          </a:xfrm>
          <a:prstGeom prst="roundRect">
            <a:avLst/>
          </a:prstGeom>
          <a:solidFill>
            <a:srgbClr val="FFF2DA"/>
          </a:solidFill>
          <a:ln>
            <a:solidFill>
              <a:srgbClr val="FFF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49640" y="2286000"/>
            <a:ext cx="2560320" cy="1051560"/>
          </a:xfrm>
          <a:prstGeom prst="rect">
            <a:avLst/>
          </a:prstGeom>
          <a:noFill/>
        </p:spPr>
        <p:txBody>
          <a:bodyPr wrap="square" lIns="27432" rIns="27432" tIns="27432" bIns="27432" anchor="ctr">
            <a:spAutoFit/>
          </a:bodyPr>
          <a:lstStyle/>
          <a:p>
            <a:pPr algn="ctr">
              <a:spcAft>
                <a:spcPts val="0"/>
              </a:spcAft>
            </a:pPr>
            <a:r>
              <a:rPr sz="1700" b="1" i="0">
                <a:solidFill>
                  <a:srgbClr val="0F1F3A"/>
                </a:solidFill>
                <a:latin typeface="Aptos"/>
              </a:rPr>
              <a:t>Generate a
context-based answer</a:t>
            </a:r>
          </a:p>
        </p:txBody>
      </p:sp>
      <p:cxnSp>
        <p:nvCxnSpPr>
          <p:cNvPr id="13" name="Connector 12"/>
          <p:cNvCxnSpPr/>
          <p:nvPr/>
        </p:nvCxnSpPr>
        <p:spPr>
          <a:xfrm>
            <a:off x="3749039" y="2816352"/>
            <a:ext cx="822961" cy="0"/>
          </a:xfrm>
          <a:prstGeom prst="line">
            <a:avLst/>
          </a:prstGeom>
          <a:ln w="25400">
            <a:solidFill>
              <a:srgbClr val="00A6A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498079" y="2816352"/>
            <a:ext cx="822961" cy="0"/>
          </a:xfrm>
          <a:prstGeom prst="line">
            <a:avLst/>
          </a:prstGeom>
          <a:ln w="25400">
            <a:solidFill>
              <a:srgbClr val="00A6A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05840" y="4160520"/>
            <a:ext cx="1828800" cy="320040"/>
          </a:xfrm>
          <a:prstGeom prst="rect">
            <a:avLst/>
          </a:prstGeom>
          <a:noFill/>
        </p:spPr>
        <p:txBody>
          <a:bodyPr wrap="square" lIns="27432" rIns="27432" tIns="27432" bIns="27432" anchor="t">
            <a:spAutoFit/>
          </a:bodyPr>
          <a:lstStyle/>
          <a:p>
            <a:pPr algn="l">
              <a:spcAft>
                <a:spcPts val="0"/>
              </a:spcAft>
            </a:pPr>
            <a:r>
              <a:rPr sz="1700" b="1" i="0">
                <a:solidFill>
                  <a:srgbClr val="00A6A6"/>
                </a:solidFill>
                <a:latin typeface="Aptos"/>
              </a:rPr>
              <a:t>Why it helps</a:t>
            </a:r>
          </a:p>
        </p:txBody>
      </p:sp>
      <p:sp>
        <p:nvSpPr>
          <p:cNvPr id="16" name="TextBox 15"/>
          <p:cNvSpPr txBox="1"/>
          <p:nvPr/>
        </p:nvSpPr>
        <p:spPr>
          <a:xfrm>
            <a:off x="1005840" y="4526280"/>
            <a:ext cx="10058400" cy="1325880"/>
          </a:xfrm>
          <a:prstGeom prst="rect">
            <a:avLst/>
          </a:prstGeom>
          <a:noFill/>
        </p:spPr>
        <p:txBody>
          <a:bodyPr wrap="square" lIns="18288" rIns="18288" tIns="18288" bIns="18288">
            <a:spAutoFit/>
          </a:bodyPr>
          <a:lstStyle/>
          <a:p>
            <a:pPr>
              <a:spcAft>
                <a:spcPts val="500"/>
              </a:spcAft>
              <a:defRPr sz="1500">
                <a:solidFill>
                  <a:srgbClr val="213044"/>
                </a:solidFill>
                <a:latin typeface="Aptos"/>
              </a:defRPr>
            </a:pPr>
            <a:r>
              <a:rPr sz="1600" b="1">
                <a:solidFill>
                  <a:srgbClr val="00A6A6"/>
                </a:solidFill>
                <a:latin typeface="Aptos"/>
              </a:rPr>
              <a:t>•  </a:t>
            </a:r>
            <a:r>
              <a:rPr sz="1500" b="1">
                <a:solidFill>
                  <a:srgbClr val="213044"/>
                </a:solidFill>
                <a:latin typeface="Aptos"/>
              </a:rPr>
              <a:t>Grounding: </a:t>
            </a:r>
            <a:r>
              <a:rPr sz="1500">
                <a:solidFill>
                  <a:srgbClr val="213044"/>
                </a:solidFill>
                <a:latin typeface="Aptos"/>
              </a:rPr>
              <a:t>the response can use relevant external information.</a:t>
            </a:r>
          </a:p>
          <a:p>
            <a:pPr>
              <a:spcAft>
                <a:spcPts val="500"/>
              </a:spcAft>
              <a:defRPr sz="1500">
                <a:solidFill>
                  <a:srgbClr val="213044"/>
                </a:solidFill>
                <a:latin typeface="Aptos"/>
              </a:defRPr>
            </a:pPr>
            <a:r>
              <a:rPr sz="1600" b="1">
                <a:solidFill>
                  <a:srgbClr val="00A6A6"/>
                </a:solidFill>
                <a:latin typeface="Aptos"/>
              </a:rPr>
              <a:t>•  </a:t>
            </a:r>
            <a:r>
              <a:rPr sz="1500" b="1">
                <a:solidFill>
                  <a:srgbClr val="213044"/>
                </a:solidFill>
                <a:latin typeface="Aptos"/>
              </a:rPr>
              <a:t>Updatability: </a:t>
            </a:r>
            <a:r>
              <a:rPr sz="1500">
                <a:solidFill>
                  <a:srgbClr val="213044"/>
                </a:solidFill>
                <a:latin typeface="Aptos"/>
              </a:rPr>
              <a:t>documents can be revised without retraining the LLM.</a:t>
            </a:r>
          </a:p>
          <a:p>
            <a:pPr>
              <a:spcAft>
                <a:spcPts val="500"/>
              </a:spcAft>
              <a:defRPr sz="1500">
                <a:solidFill>
                  <a:srgbClr val="213044"/>
                </a:solidFill>
                <a:latin typeface="Aptos"/>
              </a:defRPr>
            </a:pPr>
            <a:r>
              <a:rPr sz="1600" b="1">
                <a:solidFill>
                  <a:srgbClr val="00A6A6"/>
                </a:solidFill>
                <a:latin typeface="Aptos"/>
              </a:rPr>
              <a:t>•  </a:t>
            </a:r>
            <a:r>
              <a:rPr sz="1500" b="1">
                <a:solidFill>
                  <a:srgbClr val="213044"/>
                </a:solidFill>
                <a:latin typeface="Aptos"/>
              </a:rPr>
              <a:t>Traceability: </a:t>
            </a:r>
            <a:r>
              <a:rPr sz="1500">
                <a:solidFill>
                  <a:srgbClr val="213044"/>
                </a:solidFill>
                <a:latin typeface="Aptos"/>
              </a:rPr>
              <a:t>retrieved passages can be reviewed alongside the answer.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9FC"/>
        </a:solidFill>
        <a:effectLst/>
      </p:bgPr>
    </p:bg>
    <p:spTree>
      <p:nvGrpSpPr>
        <p:cNvPr id="1" name=""/>
        <p:cNvGrpSpPr/>
        <p:nvPr/>
      </p:nvGrpSpPr>
      <p:grpSpPr/>
      <p:sp>
        <p:nvSpPr>
          <p:cNvPr id="2" name="TextBox 1"/>
          <p:cNvSpPr txBox="1"/>
          <p:nvPr/>
        </p:nvSpPr>
        <p:spPr>
          <a:xfrm>
            <a:off x="594360" y="347472"/>
            <a:ext cx="10789920" cy="502920"/>
          </a:xfrm>
          <a:prstGeom prst="rect">
            <a:avLst/>
          </a:prstGeom>
          <a:noFill/>
        </p:spPr>
        <p:txBody>
          <a:bodyPr wrap="square" lIns="27432" rIns="27432" tIns="27432" bIns="27432" anchor="t">
            <a:spAutoFit/>
          </a:bodyPr>
          <a:lstStyle/>
          <a:p>
            <a:pPr algn="l">
              <a:spcAft>
                <a:spcPts val="0"/>
              </a:spcAft>
            </a:pPr>
            <a:r>
              <a:rPr sz="2700" b="1" i="0">
                <a:solidFill>
                  <a:srgbClr val="0F1F3A"/>
                </a:solidFill>
                <a:latin typeface="Aptos"/>
              </a:rPr>
              <a:t>Proposed System Architecture</a:t>
            </a:r>
          </a:p>
        </p:txBody>
      </p:sp>
      <p:sp>
        <p:nvSpPr>
          <p:cNvPr id="3" name="Rectangle 2"/>
          <p:cNvSpPr/>
          <p:nvPr/>
        </p:nvSpPr>
        <p:spPr>
          <a:xfrm>
            <a:off x="612648" y="960120"/>
            <a:ext cx="713232" cy="50292"/>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0" y="438912"/>
            <a:ext cx="2057400" cy="274320"/>
          </a:xfrm>
          <a:prstGeom prst="rect">
            <a:avLst/>
          </a:prstGeom>
          <a:noFill/>
        </p:spPr>
        <p:txBody>
          <a:bodyPr wrap="square" lIns="27432" rIns="27432" tIns="27432" bIns="27432" anchor="t">
            <a:spAutoFit/>
          </a:bodyPr>
          <a:lstStyle/>
          <a:p>
            <a:pPr algn="r">
              <a:spcAft>
                <a:spcPts val="0"/>
              </a:spcAft>
            </a:pPr>
            <a:r>
              <a:rPr sz="900" b="1" i="0">
                <a:solidFill>
                  <a:srgbClr val="00A6A6"/>
                </a:solidFill>
                <a:latin typeface="Aptos"/>
              </a:rPr>
              <a:t>ARCHITECTURE</a:t>
            </a:r>
          </a:p>
        </p:txBody>
      </p:sp>
      <p:sp>
        <p:nvSpPr>
          <p:cNvPr id="5" name="TextBox 4"/>
          <p:cNvSpPr txBox="1"/>
          <p:nvPr/>
        </p:nvSpPr>
        <p:spPr>
          <a:xfrm>
            <a:off x="9692640" y="6510528"/>
            <a:ext cx="1920240" cy="182880"/>
          </a:xfrm>
          <a:prstGeom prst="rect">
            <a:avLst/>
          </a:prstGeom>
          <a:noFill/>
        </p:spPr>
        <p:txBody>
          <a:bodyPr wrap="square" lIns="27432" rIns="27432" tIns="27432" bIns="27432" anchor="t">
            <a:spAutoFit/>
          </a:bodyPr>
          <a:lstStyle/>
          <a:p>
            <a:pPr algn="r">
              <a:spcAft>
                <a:spcPts val="0"/>
              </a:spcAft>
            </a:pPr>
            <a:r>
              <a:rPr sz="900" b="0" i="0">
                <a:solidFill>
                  <a:srgbClr val="5E7085"/>
                </a:solidFill>
                <a:latin typeface="Aptos"/>
              </a:rPr>
              <a:t>10  |  CAREBOT</a:t>
            </a:r>
          </a:p>
        </p:txBody>
      </p:sp>
      <p:sp>
        <p:nvSpPr>
          <p:cNvPr id="6" name="Rounded Rectangle 5"/>
          <p:cNvSpPr/>
          <p:nvPr/>
        </p:nvSpPr>
        <p:spPr>
          <a:xfrm>
            <a:off x="685800" y="1508760"/>
            <a:ext cx="1463040" cy="777240"/>
          </a:xfrm>
          <a:prstGeom prst="roundRect">
            <a:avLst/>
          </a:prstGeom>
          <a:solidFill>
            <a:srgbClr val="182F52"/>
          </a:solidFill>
          <a:ln>
            <a:solidFill>
              <a:srgbClr val="182F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54480"/>
            <a:ext cx="1280160" cy="685800"/>
          </a:xfrm>
          <a:prstGeom prst="rect">
            <a:avLst/>
          </a:prstGeom>
          <a:noFill/>
        </p:spPr>
        <p:txBody>
          <a:bodyPr wrap="square" lIns="27432" rIns="27432" tIns="27432" bIns="27432" anchor="ctr">
            <a:spAutoFit/>
          </a:bodyPr>
          <a:lstStyle/>
          <a:p>
            <a:pPr algn="ctr">
              <a:spcAft>
                <a:spcPts val="0"/>
              </a:spcAft>
            </a:pPr>
            <a:r>
              <a:rPr sz="1600" b="1" i="0">
                <a:solidFill>
                  <a:srgbClr val="FFFFFF"/>
                </a:solidFill>
                <a:latin typeface="Aptos"/>
              </a:rPr>
              <a:t>User</a:t>
            </a:r>
          </a:p>
        </p:txBody>
      </p:sp>
      <p:sp>
        <p:nvSpPr>
          <p:cNvPr id="8" name="Rounded Rectangle 7"/>
          <p:cNvSpPr/>
          <p:nvPr/>
        </p:nvSpPr>
        <p:spPr>
          <a:xfrm>
            <a:off x="2606040" y="1508760"/>
            <a:ext cx="2011680" cy="777240"/>
          </a:xfrm>
          <a:prstGeom prst="roundRect">
            <a:avLst/>
          </a:prstGeom>
          <a:solidFill>
            <a:srgbClr val="E6EEF9"/>
          </a:solidFill>
          <a:ln>
            <a:solidFill>
              <a:srgbClr val="E6EE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97480" y="1554480"/>
            <a:ext cx="1828800" cy="685800"/>
          </a:xfrm>
          <a:prstGeom prst="rect">
            <a:avLst/>
          </a:prstGeom>
          <a:noFill/>
        </p:spPr>
        <p:txBody>
          <a:bodyPr wrap="square" lIns="27432" rIns="27432" tIns="27432" bIns="27432" anchor="ctr">
            <a:spAutoFit/>
          </a:bodyPr>
          <a:lstStyle/>
          <a:p>
            <a:pPr algn="ctr">
              <a:spcAft>
                <a:spcPts val="0"/>
              </a:spcAft>
            </a:pPr>
            <a:r>
              <a:rPr sz="1500" b="1" i="0">
                <a:solidFill>
                  <a:srgbClr val="0F1F3A"/>
                </a:solidFill>
                <a:latin typeface="Aptos"/>
              </a:rPr>
              <a:t>Web interface
(HTML / CSS)</a:t>
            </a:r>
          </a:p>
        </p:txBody>
      </p:sp>
      <p:sp>
        <p:nvSpPr>
          <p:cNvPr id="10" name="Rounded Rectangle 9"/>
          <p:cNvSpPr/>
          <p:nvPr/>
        </p:nvSpPr>
        <p:spPr>
          <a:xfrm>
            <a:off x="5074920" y="1508760"/>
            <a:ext cx="2011680" cy="777240"/>
          </a:xfrm>
          <a:prstGeom prst="roundRect">
            <a:avLst/>
          </a:prstGeom>
          <a:solidFill>
            <a:srgbClr val="E1F3F5"/>
          </a:solidFill>
          <a:ln>
            <a:solidFill>
              <a:srgbClr val="E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6359" y="1554480"/>
            <a:ext cx="1828800" cy="685800"/>
          </a:xfrm>
          <a:prstGeom prst="rect">
            <a:avLst/>
          </a:prstGeom>
          <a:noFill/>
        </p:spPr>
        <p:txBody>
          <a:bodyPr wrap="square" lIns="27432" rIns="27432" tIns="27432" bIns="27432" anchor="ctr">
            <a:spAutoFit/>
          </a:bodyPr>
          <a:lstStyle/>
          <a:p>
            <a:pPr algn="ctr">
              <a:spcAft>
                <a:spcPts val="0"/>
              </a:spcAft>
            </a:pPr>
            <a:r>
              <a:rPr sz="1500" b="1" i="0">
                <a:solidFill>
                  <a:srgbClr val="0F1F3A"/>
                </a:solidFill>
                <a:latin typeface="Aptos"/>
              </a:rPr>
              <a:t>Flask / Python
application</a:t>
            </a:r>
          </a:p>
        </p:txBody>
      </p:sp>
      <p:sp>
        <p:nvSpPr>
          <p:cNvPr id="12" name="Rounded Rectangle 11"/>
          <p:cNvSpPr/>
          <p:nvPr/>
        </p:nvSpPr>
        <p:spPr>
          <a:xfrm>
            <a:off x="7543800" y="1508760"/>
            <a:ext cx="1828800" cy="777240"/>
          </a:xfrm>
          <a:prstGeom prst="roundRect">
            <a:avLst/>
          </a:prstGeom>
          <a:solidFill>
            <a:srgbClr val="FFF2DA"/>
          </a:solidFill>
          <a:ln>
            <a:solidFill>
              <a:srgbClr val="FFF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1554480"/>
            <a:ext cx="1645920" cy="685800"/>
          </a:xfrm>
          <a:prstGeom prst="rect">
            <a:avLst/>
          </a:prstGeom>
          <a:noFill/>
        </p:spPr>
        <p:txBody>
          <a:bodyPr wrap="square" lIns="27432" rIns="27432" tIns="27432" bIns="27432" anchor="ctr">
            <a:spAutoFit/>
          </a:bodyPr>
          <a:lstStyle/>
          <a:p>
            <a:pPr algn="ctr">
              <a:spcAft>
                <a:spcPts val="0"/>
              </a:spcAft>
            </a:pPr>
            <a:r>
              <a:rPr sz="1400" b="1" i="0">
                <a:solidFill>
                  <a:srgbClr val="0F1F3A"/>
                </a:solidFill>
                <a:latin typeface="Aptos"/>
              </a:rPr>
              <a:t>Retriever
(semantic search)</a:t>
            </a:r>
          </a:p>
        </p:txBody>
      </p:sp>
      <p:sp>
        <p:nvSpPr>
          <p:cNvPr id="14" name="Rounded Rectangle 13"/>
          <p:cNvSpPr/>
          <p:nvPr/>
        </p:nvSpPr>
        <p:spPr>
          <a:xfrm>
            <a:off x="9829800" y="1508760"/>
            <a:ext cx="1691640" cy="777240"/>
          </a:xfrm>
          <a:prstGeom prst="roundRect">
            <a:avLst/>
          </a:prstGeom>
          <a:solidFill>
            <a:srgbClr val="F0E6F7"/>
          </a:solidFill>
          <a:ln>
            <a:solidFill>
              <a:srgbClr val="F0E6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21240" y="1554480"/>
            <a:ext cx="1508760" cy="685800"/>
          </a:xfrm>
          <a:prstGeom prst="rect">
            <a:avLst/>
          </a:prstGeom>
          <a:noFill/>
        </p:spPr>
        <p:txBody>
          <a:bodyPr wrap="square" lIns="27432" rIns="27432" tIns="27432" bIns="27432" anchor="ctr">
            <a:spAutoFit/>
          </a:bodyPr>
          <a:lstStyle/>
          <a:p>
            <a:pPr algn="ctr">
              <a:spcAft>
                <a:spcPts val="0"/>
              </a:spcAft>
            </a:pPr>
            <a:r>
              <a:rPr sz="1400" b="1" i="0">
                <a:solidFill>
                  <a:srgbClr val="0F1F3A"/>
                </a:solidFill>
                <a:latin typeface="Aptos"/>
              </a:rPr>
              <a:t>Cohere LLM
answer draft</a:t>
            </a:r>
          </a:p>
        </p:txBody>
      </p:sp>
      <p:cxnSp>
        <p:nvCxnSpPr>
          <p:cNvPr id="16" name="Connector 15"/>
          <p:cNvCxnSpPr/>
          <p:nvPr/>
        </p:nvCxnSpPr>
        <p:spPr>
          <a:xfrm>
            <a:off x="2194560" y="1901952"/>
            <a:ext cx="320040" cy="0"/>
          </a:xfrm>
          <a:prstGeom prst="line">
            <a:avLst/>
          </a:prstGeom>
          <a:ln w="25400">
            <a:solidFill>
              <a:srgbClr val="00A6A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663440" y="1901952"/>
            <a:ext cx="320040" cy="0"/>
          </a:xfrm>
          <a:prstGeom prst="line">
            <a:avLst/>
          </a:prstGeom>
          <a:ln w="25400">
            <a:solidFill>
              <a:srgbClr val="00A6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132320" y="1901952"/>
            <a:ext cx="320040" cy="0"/>
          </a:xfrm>
          <a:prstGeom prst="line">
            <a:avLst/>
          </a:prstGeom>
          <a:ln w="25400">
            <a:solidFill>
              <a:srgbClr val="00A6A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418320" y="1901952"/>
            <a:ext cx="320040" cy="0"/>
          </a:xfrm>
          <a:prstGeom prst="line">
            <a:avLst/>
          </a:prstGeom>
          <a:ln w="25400">
            <a:solidFill>
              <a:srgbClr val="00A6A6"/>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14400" y="3657600"/>
            <a:ext cx="2331720" cy="8229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3703320"/>
            <a:ext cx="2148839" cy="731520"/>
          </a:xfrm>
          <a:prstGeom prst="rect">
            <a:avLst/>
          </a:prstGeom>
          <a:noFill/>
        </p:spPr>
        <p:txBody>
          <a:bodyPr wrap="square" lIns="27432" rIns="27432" tIns="27432" bIns="27432" anchor="ctr">
            <a:spAutoFit/>
          </a:bodyPr>
          <a:lstStyle/>
          <a:p>
            <a:pPr algn="ctr">
              <a:spcAft>
                <a:spcPts val="0"/>
              </a:spcAft>
            </a:pPr>
            <a:r>
              <a:rPr sz="1400" b="1" i="0">
                <a:solidFill>
                  <a:srgbClr val="0F1F3A"/>
                </a:solidFill>
                <a:latin typeface="Aptos"/>
              </a:rPr>
              <a:t>Approved medical documents</a:t>
            </a:r>
          </a:p>
        </p:txBody>
      </p:sp>
      <p:sp>
        <p:nvSpPr>
          <p:cNvPr id="22" name="Rounded Rectangle 21"/>
          <p:cNvSpPr/>
          <p:nvPr/>
        </p:nvSpPr>
        <p:spPr>
          <a:xfrm>
            <a:off x="3657600" y="3657600"/>
            <a:ext cx="2331720" cy="8229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9039" y="3703320"/>
            <a:ext cx="2148839" cy="731520"/>
          </a:xfrm>
          <a:prstGeom prst="rect">
            <a:avLst/>
          </a:prstGeom>
          <a:noFill/>
        </p:spPr>
        <p:txBody>
          <a:bodyPr wrap="square" lIns="27432" rIns="27432" tIns="27432" bIns="27432" anchor="ctr">
            <a:spAutoFit/>
          </a:bodyPr>
          <a:lstStyle/>
          <a:p>
            <a:pPr algn="ctr">
              <a:spcAft>
                <a:spcPts val="0"/>
              </a:spcAft>
            </a:pPr>
            <a:r>
              <a:rPr sz="1400" b="1" i="0">
                <a:solidFill>
                  <a:srgbClr val="0F1F3A"/>
                </a:solidFill>
                <a:latin typeface="Aptos"/>
              </a:rPr>
              <a:t>Text extraction &amp; chunking</a:t>
            </a:r>
          </a:p>
        </p:txBody>
      </p:sp>
      <p:sp>
        <p:nvSpPr>
          <p:cNvPr id="24" name="Rounded Rectangle 23"/>
          <p:cNvSpPr/>
          <p:nvPr/>
        </p:nvSpPr>
        <p:spPr>
          <a:xfrm>
            <a:off x="6400800" y="3657600"/>
            <a:ext cx="2011680" cy="8229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3703320"/>
            <a:ext cx="1828800" cy="731520"/>
          </a:xfrm>
          <a:prstGeom prst="rect">
            <a:avLst/>
          </a:prstGeom>
          <a:noFill/>
        </p:spPr>
        <p:txBody>
          <a:bodyPr wrap="square" lIns="27432" rIns="27432" tIns="27432" bIns="27432" anchor="ctr">
            <a:spAutoFit/>
          </a:bodyPr>
          <a:lstStyle/>
          <a:p>
            <a:pPr algn="ctr">
              <a:spcAft>
                <a:spcPts val="0"/>
              </a:spcAft>
            </a:pPr>
            <a:r>
              <a:rPr sz="1400" b="1" i="0">
                <a:solidFill>
                  <a:srgbClr val="0F1F3A"/>
                </a:solidFill>
                <a:latin typeface="Aptos"/>
              </a:rPr>
              <a:t>Embedding model</a:t>
            </a:r>
          </a:p>
        </p:txBody>
      </p:sp>
      <p:sp>
        <p:nvSpPr>
          <p:cNvPr id="26" name="Rounded Rectangle 25"/>
          <p:cNvSpPr/>
          <p:nvPr/>
        </p:nvSpPr>
        <p:spPr>
          <a:xfrm>
            <a:off x="8869680" y="3657600"/>
            <a:ext cx="2011680" cy="8229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19" y="3703320"/>
            <a:ext cx="1828800" cy="731520"/>
          </a:xfrm>
          <a:prstGeom prst="rect">
            <a:avLst/>
          </a:prstGeom>
          <a:noFill/>
        </p:spPr>
        <p:txBody>
          <a:bodyPr wrap="square" lIns="27432" rIns="27432" tIns="27432" bIns="27432" anchor="ctr">
            <a:spAutoFit/>
          </a:bodyPr>
          <a:lstStyle/>
          <a:p>
            <a:pPr algn="ctr">
              <a:spcAft>
                <a:spcPts val="0"/>
              </a:spcAft>
            </a:pPr>
            <a:r>
              <a:rPr sz="1400" b="1" i="0">
                <a:solidFill>
                  <a:srgbClr val="0F1F3A"/>
                </a:solidFill>
                <a:latin typeface="Aptos"/>
              </a:rPr>
              <a:t>Vector index</a:t>
            </a:r>
          </a:p>
        </p:txBody>
      </p:sp>
      <p:cxnSp>
        <p:nvCxnSpPr>
          <p:cNvPr id="28" name="Connector 27"/>
          <p:cNvCxnSpPr/>
          <p:nvPr/>
        </p:nvCxnSpPr>
        <p:spPr>
          <a:xfrm>
            <a:off x="3291840" y="4069080"/>
            <a:ext cx="274320" cy="0"/>
          </a:xfrm>
          <a:prstGeom prst="line">
            <a:avLst/>
          </a:prstGeom>
          <a:ln w="25400">
            <a:solidFill>
              <a:srgbClr val="182F52"/>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035040" y="4069080"/>
            <a:ext cx="274320" cy="0"/>
          </a:xfrm>
          <a:prstGeom prst="line">
            <a:avLst/>
          </a:prstGeom>
          <a:ln w="25400">
            <a:solidFill>
              <a:srgbClr val="182F5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58200" y="4069080"/>
            <a:ext cx="320040" cy="0"/>
          </a:xfrm>
          <a:prstGeom prst="line">
            <a:avLst/>
          </a:prstGeom>
          <a:ln w="25400">
            <a:solidFill>
              <a:srgbClr val="182F5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8229600" y="2514600"/>
            <a:ext cx="1645920" cy="1097280"/>
          </a:xfrm>
          <a:prstGeom prst="line">
            <a:avLst/>
          </a:prstGeom>
          <a:ln w="22860">
            <a:solidFill>
              <a:srgbClr val="00A6A6"/>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14400" y="4800600"/>
            <a:ext cx="3657600" cy="274320"/>
          </a:xfrm>
          <a:prstGeom prst="rect">
            <a:avLst/>
          </a:prstGeom>
          <a:noFill/>
        </p:spPr>
        <p:txBody>
          <a:bodyPr wrap="square" lIns="27432" rIns="27432" tIns="27432" bIns="27432" anchor="t">
            <a:spAutoFit/>
          </a:bodyPr>
          <a:lstStyle/>
          <a:p>
            <a:pPr algn="l">
              <a:spcAft>
                <a:spcPts val="0"/>
              </a:spcAft>
            </a:pPr>
            <a:r>
              <a:rPr sz="1200" b="1" i="0">
                <a:solidFill>
                  <a:srgbClr val="5E7085"/>
                </a:solidFill>
                <a:latin typeface="Aptos"/>
              </a:rPr>
              <a:t>Offline document preparation</a:t>
            </a:r>
          </a:p>
        </p:txBody>
      </p:sp>
      <p:sp>
        <p:nvSpPr>
          <p:cNvPr id="33" name="TextBox 32"/>
          <p:cNvSpPr txBox="1"/>
          <p:nvPr/>
        </p:nvSpPr>
        <p:spPr>
          <a:xfrm>
            <a:off x="914400" y="5257800"/>
            <a:ext cx="10332720" cy="365760"/>
          </a:xfrm>
          <a:prstGeom prst="rect">
            <a:avLst/>
          </a:prstGeom>
          <a:noFill/>
        </p:spPr>
        <p:txBody>
          <a:bodyPr wrap="square" lIns="27432" rIns="27432" tIns="27432" bIns="27432" anchor="t">
            <a:spAutoFit/>
          </a:bodyPr>
          <a:lstStyle/>
          <a:p>
            <a:pPr algn="ctr">
              <a:spcAft>
                <a:spcPts val="0"/>
              </a:spcAft>
            </a:pPr>
            <a:r>
              <a:rPr sz="1700" b="1" i="0">
                <a:solidFill>
                  <a:srgbClr val="00A6A6"/>
                </a:solidFill>
                <a:latin typeface="Aptos"/>
              </a:rPr>
              <a:t>At question time: retrieve → provide context → generate → return answer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9FC"/>
        </a:solidFill>
        <a:effectLst/>
      </p:bgPr>
    </p:bg>
    <p:spTree>
      <p:nvGrpSpPr>
        <p:cNvPr id="1" name=""/>
        <p:cNvGrpSpPr/>
        <p:nvPr/>
      </p:nvGrpSpPr>
      <p:grpSpPr/>
      <p:sp>
        <p:nvSpPr>
          <p:cNvPr id="2" name="TextBox 1"/>
          <p:cNvSpPr txBox="1"/>
          <p:nvPr/>
        </p:nvSpPr>
        <p:spPr>
          <a:xfrm>
            <a:off x="594360" y="347472"/>
            <a:ext cx="10789920" cy="502920"/>
          </a:xfrm>
          <a:prstGeom prst="rect">
            <a:avLst/>
          </a:prstGeom>
          <a:noFill/>
        </p:spPr>
        <p:txBody>
          <a:bodyPr wrap="square" lIns="27432" rIns="27432" tIns="27432" bIns="27432" anchor="t">
            <a:spAutoFit/>
          </a:bodyPr>
          <a:lstStyle/>
          <a:p>
            <a:pPr algn="l">
              <a:spcAft>
                <a:spcPts val="0"/>
              </a:spcAft>
            </a:pPr>
            <a:r>
              <a:rPr sz="2700" b="1" i="0">
                <a:solidFill>
                  <a:srgbClr val="0F1F3A"/>
                </a:solidFill>
                <a:latin typeface="Aptos"/>
              </a:rPr>
              <a:t>Knowledge-Base Preparation</a:t>
            </a:r>
          </a:p>
        </p:txBody>
      </p:sp>
      <p:sp>
        <p:nvSpPr>
          <p:cNvPr id="3" name="Rectangle 2"/>
          <p:cNvSpPr/>
          <p:nvPr/>
        </p:nvSpPr>
        <p:spPr>
          <a:xfrm>
            <a:off x="612648" y="960120"/>
            <a:ext cx="713232" cy="50292"/>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0" y="438912"/>
            <a:ext cx="2057400" cy="274320"/>
          </a:xfrm>
          <a:prstGeom prst="rect">
            <a:avLst/>
          </a:prstGeom>
          <a:noFill/>
        </p:spPr>
        <p:txBody>
          <a:bodyPr wrap="square" lIns="27432" rIns="27432" tIns="27432" bIns="27432" anchor="t">
            <a:spAutoFit/>
          </a:bodyPr>
          <a:lstStyle/>
          <a:p>
            <a:pPr algn="r">
              <a:spcAft>
                <a:spcPts val="0"/>
              </a:spcAft>
            </a:pPr>
            <a:r>
              <a:rPr sz="900" b="1" i="0">
                <a:solidFill>
                  <a:srgbClr val="00A6A6"/>
                </a:solidFill>
                <a:latin typeface="Aptos"/>
              </a:rPr>
              <a:t>METHODOLOGY</a:t>
            </a:r>
          </a:p>
        </p:txBody>
      </p:sp>
      <p:sp>
        <p:nvSpPr>
          <p:cNvPr id="5" name="TextBox 4"/>
          <p:cNvSpPr txBox="1"/>
          <p:nvPr/>
        </p:nvSpPr>
        <p:spPr>
          <a:xfrm>
            <a:off x="9692640" y="6510528"/>
            <a:ext cx="1920240" cy="182880"/>
          </a:xfrm>
          <a:prstGeom prst="rect">
            <a:avLst/>
          </a:prstGeom>
          <a:noFill/>
        </p:spPr>
        <p:txBody>
          <a:bodyPr wrap="square" lIns="27432" rIns="27432" tIns="27432" bIns="27432" anchor="t">
            <a:spAutoFit/>
          </a:bodyPr>
          <a:lstStyle/>
          <a:p>
            <a:pPr algn="r">
              <a:spcAft>
                <a:spcPts val="0"/>
              </a:spcAft>
            </a:pPr>
            <a:r>
              <a:rPr sz="900" b="0" i="0">
                <a:solidFill>
                  <a:srgbClr val="5E7085"/>
                </a:solidFill>
                <a:latin typeface="Aptos"/>
              </a:rPr>
              <a:t>11  |  CAREBOT</a:t>
            </a:r>
          </a:p>
        </p:txBody>
      </p:sp>
      <p:sp>
        <p:nvSpPr>
          <p:cNvPr id="6" name="Rounded Rectangle 5"/>
          <p:cNvSpPr/>
          <p:nvPr/>
        </p:nvSpPr>
        <p:spPr>
          <a:xfrm>
            <a:off x="777240" y="1508760"/>
            <a:ext cx="3429000" cy="150876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41832" y="1673351"/>
            <a:ext cx="438912" cy="438912"/>
          </a:xfrm>
          <a:prstGeom prst="ellipse">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1737360"/>
            <a:ext cx="438912" cy="228600"/>
          </a:xfrm>
          <a:prstGeom prst="rect">
            <a:avLst/>
          </a:prstGeom>
          <a:noFill/>
        </p:spPr>
        <p:txBody>
          <a:bodyPr wrap="square" lIns="27432" rIns="27432" tIns="27432" bIns="27432" anchor="t">
            <a:spAutoFit/>
          </a:bodyPr>
          <a:lstStyle/>
          <a:p>
            <a:pPr algn="ctr">
              <a:spcAft>
                <a:spcPts val="0"/>
              </a:spcAft>
            </a:pPr>
            <a:r>
              <a:rPr sz="1300" b="1" i="0">
                <a:solidFill>
                  <a:srgbClr val="FFFFFF"/>
                </a:solidFill>
                <a:latin typeface="Aptos"/>
              </a:rPr>
              <a:t>1</a:t>
            </a:r>
          </a:p>
        </p:txBody>
      </p:sp>
      <p:sp>
        <p:nvSpPr>
          <p:cNvPr id="9" name="TextBox 8"/>
          <p:cNvSpPr txBox="1"/>
          <p:nvPr/>
        </p:nvSpPr>
        <p:spPr>
          <a:xfrm>
            <a:off x="1527048" y="1691639"/>
            <a:ext cx="2377440" cy="320040"/>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Collect</a:t>
            </a:r>
          </a:p>
        </p:txBody>
      </p:sp>
      <p:sp>
        <p:nvSpPr>
          <p:cNvPr id="10" name="TextBox 9"/>
          <p:cNvSpPr txBox="1"/>
          <p:nvPr/>
        </p:nvSpPr>
        <p:spPr>
          <a:xfrm>
            <a:off x="978408" y="2221991"/>
            <a:ext cx="3017520" cy="621792"/>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Use public, reviewed medical education sources with appropriate permissions.</a:t>
            </a:r>
          </a:p>
        </p:txBody>
      </p:sp>
      <p:sp>
        <p:nvSpPr>
          <p:cNvPr id="11" name="Rounded Rectangle 10"/>
          <p:cNvSpPr/>
          <p:nvPr/>
        </p:nvSpPr>
        <p:spPr>
          <a:xfrm>
            <a:off x="4572000" y="1508760"/>
            <a:ext cx="3429000" cy="150876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736592" y="1673351"/>
            <a:ext cx="438912" cy="438912"/>
          </a:xfrm>
          <a:prstGeom prst="ellipse">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36592" y="1737360"/>
            <a:ext cx="438912" cy="228600"/>
          </a:xfrm>
          <a:prstGeom prst="rect">
            <a:avLst/>
          </a:prstGeom>
          <a:noFill/>
        </p:spPr>
        <p:txBody>
          <a:bodyPr wrap="square" lIns="27432" rIns="27432" tIns="27432" bIns="27432" anchor="t">
            <a:spAutoFit/>
          </a:bodyPr>
          <a:lstStyle/>
          <a:p>
            <a:pPr algn="ctr">
              <a:spcAft>
                <a:spcPts val="0"/>
              </a:spcAft>
            </a:pPr>
            <a:r>
              <a:rPr sz="1300" b="1" i="0">
                <a:solidFill>
                  <a:srgbClr val="FFFFFF"/>
                </a:solidFill>
                <a:latin typeface="Aptos"/>
              </a:rPr>
              <a:t>2</a:t>
            </a:r>
          </a:p>
        </p:txBody>
      </p:sp>
      <p:sp>
        <p:nvSpPr>
          <p:cNvPr id="14" name="TextBox 13"/>
          <p:cNvSpPr txBox="1"/>
          <p:nvPr/>
        </p:nvSpPr>
        <p:spPr>
          <a:xfrm>
            <a:off x="5321808" y="1691639"/>
            <a:ext cx="2377440" cy="320040"/>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Extract</a:t>
            </a:r>
          </a:p>
        </p:txBody>
      </p:sp>
      <p:sp>
        <p:nvSpPr>
          <p:cNvPr id="15" name="TextBox 14"/>
          <p:cNvSpPr txBox="1"/>
          <p:nvPr/>
        </p:nvSpPr>
        <p:spPr>
          <a:xfrm>
            <a:off x="4773168" y="2221991"/>
            <a:ext cx="3017520" cy="621792"/>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Read document text using a PDF/text extraction component.</a:t>
            </a:r>
          </a:p>
        </p:txBody>
      </p:sp>
      <p:sp>
        <p:nvSpPr>
          <p:cNvPr id="16" name="Rounded Rectangle 15"/>
          <p:cNvSpPr/>
          <p:nvPr/>
        </p:nvSpPr>
        <p:spPr>
          <a:xfrm>
            <a:off x="8366760" y="1508760"/>
            <a:ext cx="3429000" cy="150876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531352" y="1673351"/>
            <a:ext cx="438912" cy="438912"/>
          </a:xfrm>
          <a:prstGeom prst="ellipse">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31352" y="1737360"/>
            <a:ext cx="438912" cy="228600"/>
          </a:xfrm>
          <a:prstGeom prst="rect">
            <a:avLst/>
          </a:prstGeom>
          <a:noFill/>
        </p:spPr>
        <p:txBody>
          <a:bodyPr wrap="square" lIns="27432" rIns="27432" tIns="27432" bIns="27432" anchor="t">
            <a:spAutoFit/>
          </a:bodyPr>
          <a:lstStyle/>
          <a:p>
            <a:pPr algn="ctr">
              <a:spcAft>
                <a:spcPts val="0"/>
              </a:spcAft>
            </a:pPr>
            <a:r>
              <a:rPr sz="1300" b="1" i="0">
                <a:solidFill>
                  <a:srgbClr val="FFFFFF"/>
                </a:solidFill>
                <a:latin typeface="Aptos"/>
              </a:rPr>
              <a:t>3</a:t>
            </a:r>
          </a:p>
        </p:txBody>
      </p:sp>
      <p:sp>
        <p:nvSpPr>
          <p:cNvPr id="19" name="TextBox 18"/>
          <p:cNvSpPr txBox="1"/>
          <p:nvPr/>
        </p:nvSpPr>
        <p:spPr>
          <a:xfrm>
            <a:off x="9116568" y="1691639"/>
            <a:ext cx="2377440" cy="320040"/>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Clean</a:t>
            </a:r>
          </a:p>
        </p:txBody>
      </p:sp>
      <p:sp>
        <p:nvSpPr>
          <p:cNvPr id="20" name="TextBox 19"/>
          <p:cNvSpPr txBox="1"/>
          <p:nvPr/>
        </p:nvSpPr>
        <p:spPr>
          <a:xfrm>
            <a:off x="8567928" y="2221991"/>
            <a:ext cx="3017520" cy="621792"/>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Remove repeated headers, noise and unnecessary formatting.</a:t>
            </a:r>
          </a:p>
        </p:txBody>
      </p:sp>
      <p:sp>
        <p:nvSpPr>
          <p:cNvPr id="21" name="Rounded Rectangle 20"/>
          <p:cNvSpPr/>
          <p:nvPr/>
        </p:nvSpPr>
        <p:spPr>
          <a:xfrm>
            <a:off x="777240" y="3566160"/>
            <a:ext cx="3429000" cy="150876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41832" y="3730752"/>
            <a:ext cx="438912" cy="438912"/>
          </a:xfrm>
          <a:prstGeom prst="ellipse">
            <a:avLst/>
          </a:prstGeom>
          <a:solidFill>
            <a:srgbClr val="182F52"/>
          </a:solidFill>
          <a:ln>
            <a:solidFill>
              <a:srgbClr val="182F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2" y="3794760"/>
            <a:ext cx="438912" cy="228600"/>
          </a:xfrm>
          <a:prstGeom prst="rect">
            <a:avLst/>
          </a:prstGeom>
          <a:noFill/>
        </p:spPr>
        <p:txBody>
          <a:bodyPr wrap="square" lIns="27432" rIns="27432" tIns="27432" bIns="27432" anchor="t">
            <a:spAutoFit/>
          </a:bodyPr>
          <a:lstStyle/>
          <a:p>
            <a:pPr algn="ctr">
              <a:spcAft>
                <a:spcPts val="0"/>
              </a:spcAft>
            </a:pPr>
            <a:r>
              <a:rPr sz="1300" b="1" i="0">
                <a:solidFill>
                  <a:srgbClr val="FFFFFF"/>
                </a:solidFill>
                <a:latin typeface="Aptos"/>
              </a:rPr>
              <a:t>4</a:t>
            </a:r>
          </a:p>
        </p:txBody>
      </p:sp>
      <p:sp>
        <p:nvSpPr>
          <p:cNvPr id="24" name="TextBox 23"/>
          <p:cNvSpPr txBox="1"/>
          <p:nvPr/>
        </p:nvSpPr>
        <p:spPr>
          <a:xfrm>
            <a:off x="1527048" y="3749039"/>
            <a:ext cx="2377440" cy="320040"/>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Chunk</a:t>
            </a:r>
          </a:p>
        </p:txBody>
      </p:sp>
      <p:sp>
        <p:nvSpPr>
          <p:cNvPr id="25" name="TextBox 24"/>
          <p:cNvSpPr txBox="1"/>
          <p:nvPr/>
        </p:nvSpPr>
        <p:spPr>
          <a:xfrm>
            <a:off x="978408" y="4279392"/>
            <a:ext cx="3017520" cy="621792"/>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Split long content into smaller, overlapping passages.</a:t>
            </a:r>
          </a:p>
        </p:txBody>
      </p:sp>
      <p:sp>
        <p:nvSpPr>
          <p:cNvPr id="26" name="Rounded Rectangle 25"/>
          <p:cNvSpPr/>
          <p:nvPr/>
        </p:nvSpPr>
        <p:spPr>
          <a:xfrm>
            <a:off x="4572000" y="3566160"/>
            <a:ext cx="3429000" cy="150876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736592" y="3730752"/>
            <a:ext cx="438912" cy="438912"/>
          </a:xfrm>
          <a:prstGeom prst="ellipse">
            <a:avLst/>
          </a:prstGeom>
          <a:solidFill>
            <a:srgbClr val="182F52"/>
          </a:solidFill>
          <a:ln>
            <a:solidFill>
              <a:srgbClr val="182F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36592" y="3794760"/>
            <a:ext cx="438912" cy="228600"/>
          </a:xfrm>
          <a:prstGeom prst="rect">
            <a:avLst/>
          </a:prstGeom>
          <a:noFill/>
        </p:spPr>
        <p:txBody>
          <a:bodyPr wrap="square" lIns="27432" rIns="27432" tIns="27432" bIns="27432" anchor="t">
            <a:spAutoFit/>
          </a:bodyPr>
          <a:lstStyle/>
          <a:p>
            <a:pPr algn="ctr">
              <a:spcAft>
                <a:spcPts val="0"/>
              </a:spcAft>
            </a:pPr>
            <a:r>
              <a:rPr sz="1300" b="1" i="0">
                <a:solidFill>
                  <a:srgbClr val="FFFFFF"/>
                </a:solidFill>
                <a:latin typeface="Aptos"/>
              </a:rPr>
              <a:t>5</a:t>
            </a:r>
          </a:p>
        </p:txBody>
      </p:sp>
      <p:sp>
        <p:nvSpPr>
          <p:cNvPr id="29" name="TextBox 28"/>
          <p:cNvSpPr txBox="1"/>
          <p:nvPr/>
        </p:nvSpPr>
        <p:spPr>
          <a:xfrm>
            <a:off x="5321808" y="3749039"/>
            <a:ext cx="2377440" cy="320040"/>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Embed</a:t>
            </a:r>
          </a:p>
        </p:txBody>
      </p:sp>
      <p:sp>
        <p:nvSpPr>
          <p:cNvPr id="30" name="TextBox 29"/>
          <p:cNvSpPr txBox="1"/>
          <p:nvPr/>
        </p:nvSpPr>
        <p:spPr>
          <a:xfrm>
            <a:off x="4773168" y="4279392"/>
            <a:ext cx="3017520" cy="621792"/>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Convert each passage into a numeric vector.</a:t>
            </a:r>
          </a:p>
        </p:txBody>
      </p:sp>
      <p:sp>
        <p:nvSpPr>
          <p:cNvPr id="31" name="Rounded Rectangle 30"/>
          <p:cNvSpPr/>
          <p:nvPr/>
        </p:nvSpPr>
        <p:spPr>
          <a:xfrm>
            <a:off x="8366760" y="3566160"/>
            <a:ext cx="3429000" cy="150876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531352" y="3730752"/>
            <a:ext cx="438912" cy="438912"/>
          </a:xfrm>
          <a:prstGeom prst="ellipse">
            <a:avLst/>
          </a:prstGeom>
          <a:solidFill>
            <a:srgbClr val="182F52"/>
          </a:solidFill>
          <a:ln>
            <a:solidFill>
              <a:srgbClr val="182F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31352" y="3794760"/>
            <a:ext cx="438912" cy="228600"/>
          </a:xfrm>
          <a:prstGeom prst="rect">
            <a:avLst/>
          </a:prstGeom>
          <a:noFill/>
        </p:spPr>
        <p:txBody>
          <a:bodyPr wrap="square" lIns="27432" rIns="27432" tIns="27432" bIns="27432" anchor="t">
            <a:spAutoFit/>
          </a:bodyPr>
          <a:lstStyle/>
          <a:p>
            <a:pPr algn="ctr">
              <a:spcAft>
                <a:spcPts val="0"/>
              </a:spcAft>
            </a:pPr>
            <a:r>
              <a:rPr sz="1300" b="1" i="0">
                <a:solidFill>
                  <a:srgbClr val="FFFFFF"/>
                </a:solidFill>
                <a:latin typeface="Aptos"/>
              </a:rPr>
              <a:t>6</a:t>
            </a:r>
          </a:p>
        </p:txBody>
      </p:sp>
      <p:sp>
        <p:nvSpPr>
          <p:cNvPr id="34" name="TextBox 33"/>
          <p:cNvSpPr txBox="1"/>
          <p:nvPr/>
        </p:nvSpPr>
        <p:spPr>
          <a:xfrm>
            <a:off x="9116568" y="3749039"/>
            <a:ext cx="2377440" cy="320040"/>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Index</a:t>
            </a:r>
          </a:p>
        </p:txBody>
      </p:sp>
      <p:sp>
        <p:nvSpPr>
          <p:cNvPr id="35" name="TextBox 34"/>
          <p:cNvSpPr txBox="1"/>
          <p:nvPr/>
        </p:nvSpPr>
        <p:spPr>
          <a:xfrm>
            <a:off x="8567928" y="4279392"/>
            <a:ext cx="3017520" cy="621792"/>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Store vectors and metadata for similarity search.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9FC"/>
        </a:solidFill>
        <a:effectLst/>
      </p:bgPr>
    </p:bg>
    <p:spTree>
      <p:nvGrpSpPr>
        <p:cNvPr id="1" name=""/>
        <p:cNvGrpSpPr/>
        <p:nvPr/>
      </p:nvGrpSpPr>
      <p:grpSpPr/>
      <p:sp>
        <p:nvSpPr>
          <p:cNvPr id="2" name="TextBox 1"/>
          <p:cNvSpPr txBox="1"/>
          <p:nvPr/>
        </p:nvSpPr>
        <p:spPr>
          <a:xfrm>
            <a:off x="594360" y="347472"/>
            <a:ext cx="10789920" cy="502920"/>
          </a:xfrm>
          <a:prstGeom prst="rect">
            <a:avLst/>
          </a:prstGeom>
          <a:noFill/>
        </p:spPr>
        <p:txBody>
          <a:bodyPr wrap="square" lIns="27432" rIns="27432" tIns="27432" bIns="27432" anchor="t">
            <a:spAutoFit/>
          </a:bodyPr>
          <a:lstStyle/>
          <a:p>
            <a:pPr algn="l">
              <a:spcAft>
                <a:spcPts val="0"/>
              </a:spcAft>
            </a:pPr>
            <a:r>
              <a:rPr sz="2700" b="1" i="0">
                <a:solidFill>
                  <a:srgbClr val="0F1F3A"/>
                </a:solidFill>
                <a:latin typeface="Aptos"/>
              </a:rPr>
              <a:t>Question-to-Answer Workflow</a:t>
            </a:r>
          </a:p>
        </p:txBody>
      </p:sp>
      <p:sp>
        <p:nvSpPr>
          <p:cNvPr id="3" name="Rectangle 2"/>
          <p:cNvSpPr/>
          <p:nvPr/>
        </p:nvSpPr>
        <p:spPr>
          <a:xfrm>
            <a:off x="612648" y="960120"/>
            <a:ext cx="713232" cy="50292"/>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0" y="438912"/>
            <a:ext cx="2057400" cy="274320"/>
          </a:xfrm>
          <a:prstGeom prst="rect">
            <a:avLst/>
          </a:prstGeom>
          <a:noFill/>
        </p:spPr>
        <p:txBody>
          <a:bodyPr wrap="square" lIns="27432" rIns="27432" tIns="27432" bIns="27432" anchor="t">
            <a:spAutoFit/>
          </a:bodyPr>
          <a:lstStyle/>
          <a:p>
            <a:pPr algn="r">
              <a:spcAft>
                <a:spcPts val="0"/>
              </a:spcAft>
            </a:pPr>
            <a:r>
              <a:rPr sz="900" b="1" i="0">
                <a:solidFill>
                  <a:srgbClr val="00A6A6"/>
                </a:solidFill>
                <a:latin typeface="Aptos"/>
              </a:rPr>
              <a:t>METHODOLOGY</a:t>
            </a:r>
          </a:p>
        </p:txBody>
      </p:sp>
      <p:sp>
        <p:nvSpPr>
          <p:cNvPr id="5" name="TextBox 4"/>
          <p:cNvSpPr txBox="1"/>
          <p:nvPr/>
        </p:nvSpPr>
        <p:spPr>
          <a:xfrm>
            <a:off x="9692640" y="6510528"/>
            <a:ext cx="1920240" cy="182880"/>
          </a:xfrm>
          <a:prstGeom prst="rect">
            <a:avLst/>
          </a:prstGeom>
          <a:noFill/>
        </p:spPr>
        <p:txBody>
          <a:bodyPr wrap="square" lIns="27432" rIns="27432" tIns="27432" bIns="27432" anchor="t">
            <a:spAutoFit/>
          </a:bodyPr>
          <a:lstStyle/>
          <a:p>
            <a:pPr algn="r">
              <a:spcAft>
                <a:spcPts val="0"/>
              </a:spcAft>
            </a:pPr>
            <a:r>
              <a:rPr sz="900" b="0" i="0">
                <a:solidFill>
                  <a:srgbClr val="5E7085"/>
                </a:solidFill>
                <a:latin typeface="Aptos"/>
              </a:rPr>
              <a:t>12  |  CAREBOT</a:t>
            </a:r>
          </a:p>
        </p:txBody>
      </p:sp>
      <p:sp>
        <p:nvSpPr>
          <p:cNvPr id="6" name="Rounded Rectangle 5"/>
          <p:cNvSpPr/>
          <p:nvPr/>
        </p:nvSpPr>
        <p:spPr>
          <a:xfrm>
            <a:off x="502920" y="1920240"/>
            <a:ext cx="1645920" cy="182880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103120"/>
            <a:ext cx="1463040" cy="256032"/>
          </a:xfrm>
          <a:prstGeom prst="rect">
            <a:avLst/>
          </a:prstGeom>
          <a:noFill/>
        </p:spPr>
        <p:txBody>
          <a:bodyPr wrap="square" lIns="27432" rIns="27432" tIns="27432" bIns="27432" anchor="t">
            <a:spAutoFit/>
          </a:bodyPr>
          <a:lstStyle/>
          <a:p>
            <a:pPr algn="ctr">
              <a:spcAft>
                <a:spcPts val="0"/>
              </a:spcAft>
            </a:pPr>
            <a:r>
              <a:rPr sz="1200" b="1" i="0">
                <a:solidFill>
                  <a:srgbClr val="00A6A6"/>
                </a:solidFill>
                <a:latin typeface="Aptos"/>
              </a:rPr>
              <a:t>01</a:t>
            </a:r>
          </a:p>
        </p:txBody>
      </p:sp>
      <p:sp>
        <p:nvSpPr>
          <p:cNvPr id="8" name="TextBox 7"/>
          <p:cNvSpPr txBox="1"/>
          <p:nvPr/>
        </p:nvSpPr>
        <p:spPr>
          <a:xfrm>
            <a:off x="612648" y="2514600"/>
            <a:ext cx="1426464" cy="384048"/>
          </a:xfrm>
          <a:prstGeom prst="rect">
            <a:avLst/>
          </a:prstGeom>
          <a:noFill/>
        </p:spPr>
        <p:txBody>
          <a:bodyPr wrap="square" lIns="27432" rIns="27432" tIns="27432" bIns="27432" anchor="t">
            <a:spAutoFit/>
          </a:bodyPr>
          <a:lstStyle/>
          <a:p>
            <a:pPr algn="ctr">
              <a:spcAft>
                <a:spcPts val="0"/>
              </a:spcAft>
            </a:pPr>
            <a:r>
              <a:rPr sz="1500" b="1" i="0">
                <a:solidFill>
                  <a:srgbClr val="0F1F3A"/>
                </a:solidFill>
                <a:latin typeface="Aptos"/>
              </a:rPr>
              <a:t>Question</a:t>
            </a:r>
          </a:p>
        </p:txBody>
      </p:sp>
      <p:sp>
        <p:nvSpPr>
          <p:cNvPr id="9" name="TextBox 8"/>
          <p:cNvSpPr txBox="1"/>
          <p:nvPr/>
        </p:nvSpPr>
        <p:spPr>
          <a:xfrm>
            <a:off x="621792" y="2971800"/>
            <a:ext cx="1408176" cy="576072"/>
          </a:xfrm>
          <a:prstGeom prst="rect">
            <a:avLst/>
          </a:prstGeom>
          <a:noFill/>
        </p:spPr>
        <p:txBody>
          <a:bodyPr wrap="square" lIns="27432" rIns="27432" tIns="27432" bIns="27432" anchor="t">
            <a:spAutoFit/>
          </a:bodyPr>
          <a:lstStyle/>
          <a:p>
            <a:pPr algn="ctr">
              <a:spcAft>
                <a:spcPts val="0"/>
              </a:spcAft>
            </a:pPr>
            <a:r>
              <a:rPr sz="1200" b="0" i="0">
                <a:solidFill>
                  <a:srgbClr val="5E7085"/>
                </a:solidFill>
                <a:latin typeface="Aptos"/>
              </a:rPr>
              <a:t>User enters a question</a:t>
            </a:r>
          </a:p>
        </p:txBody>
      </p:sp>
      <p:cxnSp>
        <p:nvCxnSpPr>
          <p:cNvPr id="10" name="Connector 9"/>
          <p:cNvCxnSpPr/>
          <p:nvPr/>
        </p:nvCxnSpPr>
        <p:spPr>
          <a:xfrm>
            <a:off x="2167128" y="2834640"/>
            <a:ext cx="237744" cy="0"/>
          </a:xfrm>
          <a:prstGeom prst="line">
            <a:avLst/>
          </a:prstGeom>
          <a:ln w="25400">
            <a:solidFill>
              <a:srgbClr val="00A6A6"/>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450591" y="1920240"/>
            <a:ext cx="1645920" cy="182880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42032" y="2103120"/>
            <a:ext cx="1463040" cy="256032"/>
          </a:xfrm>
          <a:prstGeom prst="rect">
            <a:avLst/>
          </a:prstGeom>
          <a:noFill/>
        </p:spPr>
        <p:txBody>
          <a:bodyPr wrap="square" lIns="27432" rIns="27432" tIns="27432" bIns="27432" anchor="t">
            <a:spAutoFit/>
          </a:bodyPr>
          <a:lstStyle/>
          <a:p>
            <a:pPr algn="ctr">
              <a:spcAft>
                <a:spcPts val="0"/>
              </a:spcAft>
            </a:pPr>
            <a:r>
              <a:rPr sz="1200" b="1" i="0">
                <a:solidFill>
                  <a:srgbClr val="00A6A6"/>
                </a:solidFill>
                <a:latin typeface="Aptos"/>
              </a:rPr>
              <a:t>02</a:t>
            </a:r>
          </a:p>
        </p:txBody>
      </p:sp>
      <p:sp>
        <p:nvSpPr>
          <p:cNvPr id="13" name="TextBox 12"/>
          <p:cNvSpPr txBox="1"/>
          <p:nvPr/>
        </p:nvSpPr>
        <p:spPr>
          <a:xfrm>
            <a:off x="2560320" y="2514600"/>
            <a:ext cx="1426464" cy="384048"/>
          </a:xfrm>
          <a:prstGeom prst="rect">
            <a:avLst/>
          </a:prstGeom>
          <a:noFill/>
        </p:spPr>
        <p:txBody>
          <a:bodyPr wrap="square" lIns="27432" rIns="27432" tIns="27432" bIns="27432" anchor="t">
            <a:spAutoFit/>
          </a:bodyPr>
          <a:lstStyle/>
          <a:p>
            <a:pPr algn="ctr">
              <a:spcAft>
                <a:spcPts val="0"/>
              </a:spcAft>
            </a:pPr>
            <a:r>
              <a:rPr sz="1500" b="1" i="0">
                <a:solidFill>
                  <a:srgbClr val="0F1F3A"/>
                </a:solidFill>
                <a:latin typeface="Aptos"/>
              </a:rPr>
              <a:t>Embed query</a:t>
            </a:r>
          </a:p>
        </p:txBody>
      </p:sp>
      <p:sp>
        <p:nvSpPr>
          <p:cNvPr id="14" name="TextBox 13"/>
          <p:cNvSpPr txBox="1"/>
          <p:nvPr/>
        </p:nvSpPr>
        <p:spPr>
          <a:xfrm>
            <a:off x="2569463" y="2971800"/>
            <a:ext cx="1408176" cy="576072"/>
          </a:xfrm>
          <a:prstGeom prst="rect">
            <a:avLst/>
          </a:prstGeom>
          <a:noFill/>
        </p:spPr>
        <p:txBody>
          <a:bodyPr wrap="square" lIns="27432" rIns="27432" tIns="27432" bIns="27432" anchor="t">
            <a:spAutoFit/>
          </a:bodyPr>
          <a:lstStyle/>
          <a:p>
            <a:pPr algn="ctr">
              <a:spcAft>
                <a:spcPts val="0"/>
              </a:spcAft>
            </a:pPr>
            <a:r>
              <a:rPr sz="1200" b="0" i="0">
                <a:solidFill>
                  <a:srgbClr val="5E7085"/>
                </a:solidFill>
                <a:latin typeface="Aptos"/>
              </a:rPr>
              <a:t>Represent question as a vector</a:t>
            </a:r>
          </a:p>
        </p:txBody>
      </p:sp>
      <p:cxnSp>
        <p:nvCxnSpPr>
          <p:cNvPr id="15" name="Connector 14"/>
          <p:cNvCxnSpPr/>
          <p:nvPr/>
        </p:nvCxnSpPr>
        <p:spPr>
          <a:xfrm>
            <a:off x="4114800" y="2834640"/>
            <a:ext cx="237744" cy="0"/>
          </a:xfrm>
          <a:prstGeom prst="line">
            <a:avLst/>
          </a:prstGeom>
          <a:ln w="25400">
            <a:solidFill>
              <a:srgbClr val="00A6A6"/>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398264" y="1920240"/>
            <a:ext cx="1645920" cy="182880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9703" y="2103120"/>
            <a:ext cx="1463040" cy="256032"/>
          </a:xfrm>
          <a:prstGeom prst="rect">
            <a:avLst/>
          </a:prstGeom>
          <a:noFill/>
        </p:spPr>
        <p:txBody>
          <a:bodyPr wrap="square" lIns="27432" rIns="27432" tIns="27432" bIns="27432" anchor="t">
            <a:spAutoFit/>
          </a:bodyPr>
          <a:lstStyle/>
          <a:p>
            <a:pPr algn="ctr">
              <a:spcAft>
                <a:spcPts val="0"/>
              </a:spcAft>
            </a:pPr>
            <a:r>
              <a:rPr sz="1200" b="1" i="0">
                <a:solidFill>
                  <a:srgbClr val="00A6A6"/>
                </a:solidFill>
                <a:latin typeface="Aptos"/>
              </a:rPr>
              <a:t>03</a:t>
            </a:r>
          </a:p>
        </p:txBody>
      </p:sp>
      <p:sp>
        <p:nvSpPr>
          <p:cNvPr id="18" name="TextBox 17"/>
          <p:cNvSpPr txBox="1"/>
          <p:nvPr/>
        </p:nvSpPr>
        <p:spPr>
          <a:xfrm>
            <a:off x="4507992" y="2514600"/>
            <a:ext cx="1426464" cy="384048"/>
          </a:xfrm>
          <a:prstGeom prst="rect">
            <a:avLst/>
          </a:prstGeom>
          <a:noFill/>
        </p:spPr>
        <p:txBody>
          <a:bodyPr wrap="square" lIns="27432" rIns="27432" tIns="27432" bIns="27432" anchor="t">
            <a:spAutoFit/>
          </a:bodyPr>
          <a:lstStyle/>
          <a:p>
            <a:pPr algn="ctr">
              <a:spcAft>
                <a:spcPts val="0"/>
              </a:spcAft>
            </a:pPr>
            <a:r>
              <a:rPr sz="1500" b="1" i="0">
                <a:solidFill>
                  <a:srgbClr val="0F1F3A"/>
                </a:solidFill>
                <a:latin typeface="Aptos"/>
              </a:rPr>
              <a:t>Retrieve</a:t>
            </a:r>
          </a:p>
        </p:txBody>
      </p:sp>
      <p:sp>
        <p:nvSpPr>
          <p:cNvPr id="19" name="TextBox 18"/>
          <p:cNvSpPr txBox="1"/>
          <p:nvPr/>
        </p:nvSpPr>
        <p:spPr>
          <a:xfrm>
            <a:off x="4517136" y="2971800"/>
            <a:ext cx="1408176" cy="576072"/>
          </a:xfrm>
          <a:prstGeom prst="rect">
            <a:avLst/>
          </a:prstGeom>
          <a:noFill/>
        </p:spPr>
        <p:txBody>
          <a:bodyPr wrap="square" lIns="27432" rIns="27432" tIns="27432" bIns="27432" anchor="t">
            <a:spAutoFit/>
          </a:bodyPr>
          <a:lstStyle/>
          <a:p>
            <a:pPr algn="ctr">
              <a:spcAft>
                <a:spcPts val="0"/>
              </a:spcAft>
            </a:pPr>
            <a:r>
              <a:rPr sz="1200" b="0" i="0">
                <a:solidFill>
                  <a:srgbClr val="5E7085"/>
                </a:solidFill>
                <a:latin typeface="Aptos"/>
              </a:rPr>
              <a:t>Find the most relevant passages</a:t>
            </a:r>
          </a:p>
        </p:txBody>
      </p:sp>
      <p:cxnSp>
        <p:nvCxnSpPr>
          <p:cNvPr id="20" name="Connector 19"/>
          <p:cNvCxnSpPr/>
          <p:nvPr/>
        </p:nvCxnSpPr>
        <p:spPr>
          <a:xfrm>
            <a:off x="6062472" y="2834640"/>
            <a:ext cx="237744" cy="0"/>
          </a:xfrm>
          <a:prstGeom prst="line">
            <a:avLst/>
          </a:prstGeom>
          <a:ln w="25400">
            <a:solidFill>
              <a:srgbClr val="00A6A6"/>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345936" y="1920240"/>
            <a:ext cx="1645920" cy="182880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5" y="2103120"/>
            <a:ext cx="1463040" cy="256032"/>
          </a:xfrm>
          <a:prstGeom prst="rect">
            <a:avLst/>
          </a:prstGeom>
          <a:noFill/>
        </p:spPr>
        <p:txBody>
          <a:bodyPr wrap="square" lIns="27432" rIns="27432" tIns="27432" bIns="27432" anchor="t">
            <a:spAutoFit/>
          </a:bodyPr>
          <a:lstStyle/>
          <a:p>
            <a:pPr algn="ctr">
              <a:spcAft>
                <a:spcPts val="0"/>
              </a:spcAft>
            </a:pPr>
            <a:r>
              <a:rPr sz="1200" b="1" i="0">
                <a:solidFill>
                  <a:srgbClr val="00A6A6"/>
                </a:solidFill>
                <a:latin typeface="Aptos"/>
              </a:rPr>
              <a:t>04</a:t>
            </a:r>
          </a:p>
        </p:txBody>
      </p:sp>
      <p:sp>
        <p:nvSpPr>
          <p:cNvPr id="23" name="TextBox 22"/>
          <p:cNvSpPr txBox="1"/>
          <p:nvPr/>
        </p:nvSpPr>
        <p:spPr>
          <a:xfrm>
            <a:off x="6455664" y="2514600"/>
            <a:ext cx="1426464" cy="384048"/>
          </a:xfrm>
          <a:prstGeom prst="rect">
            <a:avLst/>
          </a:prstGeom>
          <a:noFill/>
        </p:spPr>
        <p:txBody>
          <a:bodyPr wrap="square" lIns="27432" rIns="27432" tIns="27432" bIns="27432" anchor="t">
            <a:spAutoFit/>
          </a:bodyPr>
          <a:lstStyle/>
          <a:p>
            <a:pPr algn="ctr">
              <a:spcAft>
                <a:spcPts val="0"/>
              </a:spcAft>
            </a:pPr>
            <a:r>
              <a:rPr sz="1500" b="1" i="0">
                <a:solidFill>
                  <a:srgbClr val="0F1F3A"/>
                </a:solidFill>
                <a:latin typeface="Aptos"/>
              </a:rPr>
              <a:t>Build prompt</a:t>
            </a:r>
          </a:p>
        </p:txBody>
      </p:sp>
      <p:sp>
        <p:nvSpPr>
          <p:cNvPr id="24" name="TextBox 23"/>
          <p:cNvSpPr txBox="1"/>
          <p:nvPr/>
        </p:nvSpPr>
        <p:spPr>
          <a:xfrm>
            <a:off x="6464807" y="2971800"/>
            <a:ext cx="1408176" cy="576072"/>
          </a:xfrm>
          <a:prstGeom prst="rect">
            <a:avLst/>
          </a:prstGeom>
          <a:noFill/>
        </p:spPr>
        <p:txBody>
          <a:bodyPr wrap="square" lIns="27432" rIns="27432" tIns="27432" bIns="27432" anchor="t">
            <a:spAutoFit/>
          </a:bodyPr>
          <a:lstStyle/>
          <a:p>
            <a:pPr algn="ctr">
              <a:spcAft>
                <a:spcPts val="0"/>
              </a:spcAft>
            </a:pPr>
            <a:r>
              <a:rPr sz="1200" b="0" i="0">
                <a:solidFill>
                  <a:srgbClr val="5E7085"/>
                </a:solidFill>
                <a:latin typeface="Aptos"/>
              </a:rPr>
              <a:t>Combine question and context</a:t>
            </a:r>
          </a:p>
        </p:txBody>
      </p:sp>
      <p:cxnSp>
        <p:nvCxnSpPr>
          <p:cNvPr id="25" name="Connector 24"/>
          <p:cNvCxnSpPr/>
          <p:nvPr/>
        </p:nvCxnSpPr>
        <p:spPr>
          <a:xfrm>
            <a:off x="8010144" y="2834640"/>
            <a:ext cx="237744" cy="0"/>
          </a:xfrm>
          <a:prstGeom prst="line">
            <a:avLst/>
          </a:prstGeom>
          <a:ln w="25400">
            <a:solidFill>
              <a:srgbClr val="00A6A6"/>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293608" y="1920240"/>
            <a:ext cx="1645920" cy="182880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85048" y="2103120"/>
            <a:ext cx="1463040" cy="256032"/>
          </a:xfrm>
          <a:prstGeom prst="rect">
            <a:avLst/>
          </a:prstGeom>
          <a:noFill/>
        </p:spPr>
        <p:txBody>
          <a:bodyPr wrap="square" lIns="27432" rIns="27432" tIns="27432" bIns="27432" anchor="t">
            <a:spAutoFit/>
          </a:bodyPr>
          <a:lstStyle/>
          <a:p>
            <a:pPr algn="ctr">
              <a:spcAft>
                <a:spcPts val="0"/>
              </a:spcAft>
            </a:pPr>
            <a:r>
              <a:rPr sz="1200" b="1" i="0">
                <a:solidFill>
                  <a:srgbClr val="00A6A6"/>
                </a:solidFill>
                <a:latin typeface="Aptos"/>
              </a:rPr>
              <a:t>05</a:t>
            </a:r>
          </a:p>
        </p:txBody>
      </p:sp>
      <p:sp>
        <p:nvSpPr>
          <p:cNvPr id="28" name="TextBox 27"/>
          <p:cNvSpPr txBox="1"/>
          <p:nvPr/>
        </p:nvSpPr>
        <p:spPr>
          <a:xfrm>
            <a:off x="8403336" y="2514600"/>
            <a:ext cx="1426464" cy="384048"/>
          </a:xfrm>
          <a:prstGeom prst="rect">
            <a:avLst/>
          </a:prstGeom>
          <a:noFill/>
        </p:spPr>
        <p:txBody>
          <a:bodyPr wrap="square" lIns="27432" rIns="27432" tIns="27432" bIns="27432" anchor="t">
            <a:spAutoFit/>
          </a:bodyPr>
          <a:lstStyle/>
          <a:p>
            <a:pPr algn="ctr">
              <a:spcAft>
                <a:spcPts val="0"/>
              </a:spcAft>
            </a:pPr>
            <a:r>
              <a:rPr sz="1500" b="1" i="0">
                <a:solidFill>
                  <a:srgbClr val="0F1F3A"/>
                </a:solidFill>
                <a:latin typeface="Aptos"/>
              </a:rPr>
              <a:t>Generate</a:t>
            </a:r>
          </a:p>
        </p:txBody>
      </p:sp>
      <p:sp>
        <p:nvSpPr>
          <p:cNvPr id="29" name="TextBox 28"/>
          <p:cNvSpPr txBox="1"/>
          <p:nvPr/>
        </p:nvSpPr>
        <p:spPr>
          <a:xfrm>
            <a:off x="8412480" y="2971800"/>
            <a:ext cx="1408176" cy="576072"/>
          </a:xfrm>
          <a:prstGeom prst="rect">
            <a:avLst/>
          </a:prstGeom>
          <a:noFill/>
        </p:spPr>
        <p:txBody>
          <a:bodyPr wrap="square" lIns="27432" rIns="27432" tIns="27432" bIns="27432" anchor="t">
            <a:spAutoFit/>
          </a:bodyPr>
          <a:lstStyle/>
          <a:p>
            <a:pPr algn="ctr">
              <a:spcAft>
                <a:spcPts val="0"/>
              </a:spcAft>
            </a:pPr>
            <a:r>
              <a:rPr sz="1200" b="0" i="0">
                <a:solidFill>
                  <a:srgbClr val="5E7085"/>
                </a:solidFill>
                <a:latin typeface="Aptos"/>
              </a:rPr>
              <a:t>Cohere drafts an answer</a:t>
            </a:r>
          </a:p>
        </p:txBody>
      </p:sp>
      <p:cxnSp>
        <p:nvCxnSpPr>
          <p:cNvPr id="30" name="Connector 29"/>
          <p:cNvCxnSpPr/>
          <p:nvPr/>
        </p:nvCxnSpPr>
        <p:spPr>
          <a:xfrm>
            <a:off x="9957816" y="2834640"/>
            <a:ext cx="237744" cy="0"/>
          </a:xfrm>
          <a:prstGeom prst="line">
            <a:avLst/>
          </a:prstGeom>
          <a:ln w="25400">
            <a:solidFill>
              <a:srgbClr val="00A6A6"/>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0241280" y="1920240"/>
            <a:ext cx="1645920" cy="182880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332719" y="2103120"/>
            <a:ext cx="1463040" cy="256032"/>
          </a:xfrm>
          <a:prstGeom prst="rect">
            <a:avLst/>
          </a:prstGeom>
          <a:noFill/>
        </p:spPr>
        <p:txBody>
          <a:bodyPr wrap="square" lIns="27432" rIns="27432" tIns="27432" bIns="27432" anchor="t">
            <a:spAutoFit/>
          </a:bodyPr>
          <a:lstStyle/>
          <a:p>
            <a:pPr algn="ctr">
              <a:spcAft>
                <a:spcPts val="0"/>
              </a:spcAft>
            </a:pPr>
            <a:r>
              <a:rPr sz="1200" b="1" i="0">
                <a:solidFill>
                  <a:srgbClr val="00A6A6"/>
                </a:solidFill>
                <a:latin typeface="Aptos"/>
              </a:rPr>
              <a:t>06</a:t>
            </a:r>
          </a:p>
        </p:txBody>
      </p:sp>
      <p:sp>
        <p:nvSpPr>
          <p:cNvPr id="33" name="TextBox 32"/>
          <p:cNvSpPr txBox="1"/>
          <p:nvPr/>
        </p:nvSpPr>
        <p:spPr>
          <a:xfrm>
            <a:off x="10351007" y="2514600"/>
            <a:ext cx="1426464" cy="384048"/>
          </a:xfrm>
          <a:prstGeom prst="rect">
            <a:avLst/>
          </a:prstGeom>
          <a:noFill/>
        </p:spPr>
        <p:txBody>
          <a:bodyPr wrap="square" lIns="27432" rIns="27432" tIns="27432" bIns="27432" anchor="t">
            <a:spAutoFit/>
          </a:bodyPr>
          <a:lstStyle/>
          <a:p>
            <a:pPr algn="ctr">
              <a:spcAft>
                <a:spcPts val="0"/>
              </a:spcAft>
            </a:pPr>
            <a:r>
              <a:rPr sz="1500" b="1" i="0">
                <a:solidFill>
                  <a:srgbClr val="0F1F3A"/>
                </a:solidFill>
                <a:latin typeface="Aptos"/>
              </a:rPr>
              <a:t>Respond</a:t>
            </a:r>
          </a:p>
        </p:txBody>
      </p:sp>
      <p:sp>
        <p:nvSpPr>
          <p:cNvPr id="34" name="TextBox 33"/>
          <p:cNvSpPr txBox="1"/>
          <p:nvPr/>
        </p:nvSpPr>
        <p:spPr>
          <a:xfrm>
            <a:off x="10360152" y="2971800"/>
            <a:ext cx="1408176" cy="576072"/>
          </a:xfrm>
          <a:prstGeom prst="rect">
            <a:avLst/>
          </a:prstGeom>
          <a:noFill/>
        </p:spPr>
        <p:txBody>
          <a:bodyPr wrap="square" lIns="27432" rIns="27432" tIns="27432" bIns="27432" anchor="t">
            <a:spAutoFit/>
          </a:bodyPr>
          <a:lstStyle/>
          <a:p>
            <a:pPr algn="ctr">
              <a:spcAft>
                <a:spcPts val="0"/>
              </a:spcAft>
            </a:pPr>
            <a:r>
              <a:rPr sz="1200" b="0" i="0">
                <a:solidFill>
                  <a:srgbClr val="5E7085"/>
                </a:solidFill>
                <a:latin typeface="Aptos"/>
              </a:rPr>
              <a:t>Return answer or safe fallback</a:t>
            </a:r>
          </a:p>
        </p:txBody>
      </p:sp>
      <p:sp>
        <p:nvSpPr>
          <p:cNvPr id="35" name="Rounded Rectangle 34"/>
          <p:cNvSpPr/>
          <p:nvPr/>
        </p:nvSpPr>
        <p:spPr>
          <a:xfrm>
            <a:off x="914400" y="4572000"/>
            <a:ext cx="10332720" cy="685800"/>
          </a:xfrm>
          <a:prstGeom prst="roundRect">
            <a:avLst/>
          </a:prstGeom>
          <a:solidFill>
            <a:srgbClr val="E1F3F5"/>
          </a:solidFill>
          <a:ln>
            <a:solidFill>
              <a:srgbClr val="E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43000" y="4754880"/>
            <a:ext cx="9875520" cy="292608"/>
          </a:xfrm>
          <a:prstGeom prst="rect">
            <a:avLst/>
          </a:prstGeom>
          <a:noFill/>
        </p:spPr>
        <p:txBody>
          <a:bodyPr wrap="square" lIns="27432" rIns="27432" tIns="27432" bIns="27432" anchor="t">
            <a:spAutoFit/>
          </a:bodyPr>
          <a:lstStyle/>
          <a:p>
            <a:pPr algn="ctr">
              <a:spcAft>
                <a:spcPts val="0"/>
              </a:spcAft>
            </a:pPr>
            <a:r>
              <a:rPr sz="1800" b="1" i="0">
                <a:solidFill>
                  <a:srgbClr val="0F1F3A"/>
                </a:solidFill>
                <a:latin typeface="Aptos"/>
              </a:rPr>
              <a:t>Key rule: if retrieved context is insufficient, do not invent an answer.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9FC"/>
        </a:solidFill>
        <a:effectLst/>
      </p:bgPr>
    </p:bg>
    <p:spTree>
      <p:nvGrpSpPr>
        <p:cNvPr id="1" name=""/>
        <p:cNvGrpSpPr/>
        <p:nvPr/>
      </p:nvGrpSpPr>
      <p:grpSpPr/>
      <p:sp>
        <p:nvSpPr>
          <p:cNvPr id="2" name="TextBox 1"/>
          <p:cNvSpPr txBox="1"/>
          <p:nvPr/>
        </p:nvSpPr>
        <p:spPr>
          <a:xfrm>
            <a:off x="594360" y="347472"/>
            <a:ext cx="10789920" cy="502920"/>
          </a:xfrm>
          <a:prstGeom prst="rect">
            <a:avLst/>
          </a:prstGeom>
          <a:noFill/>
        </p:spPr>
        <p:txBody>
          <a:bodyPr wrap="square" lIns="27432" rIns="27432" tIns="27432" bIns="27432" anchor="t">
            <a:spAutoFit/>
          </a:bodyPr>
          <a:lstStyle/>
          <a:p>
            <a:pPr algn="l">
              <a:spcAft>
                <a:spcPts val="0"/>
              </a:spcAft>
            </a:pPr>
            <a:r>
              <a:rPr sz="2700" b="1" i="0">
                <a:solidFill>
                  <a:srgbClr val="0F1F3A"/>
                </a:solidFill>
                <a:latin typeface="Aptos"/>
              </a:rPr>
              <a:t>Proposed Technology Stack</a:t>
            </a:r>
          </a:p>
        </p:txBody>
      </p:sp>
      <p:sp>
        <p:nvSpPr>
          <p:cNvPr id="3" name="Rectangle 2"/>
          <p:cNvSpPr/>
          <p:nvPr/>
        </p:nvSpPr>
        <p:spPr>
          <a:xfrm>
            <a:off x="612648" y="960120"/>
            <a:ext cx="713232" cy="50292"/>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0" y="438912"/>
            <a:ext cx="2057400" cy="274320"/>
          </a:xfrm>
          <a:prstGeom prst="rect">
            <a:avLst/>
          </a:prstGeom>
          <a:noFill/>
        </p:spPr>
        <p:txBody>
          <a:bodyPr wrap="square" lIns="27432" rIns="27432" tIns="27432" bIns="27432" anchor="t">
            <a:spAutoFit/>
          </a:bodyPr>
          <a:lstStyle/>
          <a:p>
            <a:pPr algn="r">
              <a:spcAft>
                <a:spcPts val="0"/>
              </a:spcAft>
            </a:pPr>
            <a:r>
              <a:rPr sz="900" b="1" i="0">
                <a:solidFill>
                  <a:srgbClr val="00A6A6"/>
                </a:solidFill>
                <a:latin typeface="Aptos"/>
              </a:rPr>
              <a:t>TECHNOLOGIES</a:t>
            </a:r>
          </a:p>
        </p:txBody>
      </p:sp>
      <p:sp>
        <p:nvSpPr>
          <p:cNvPr id="5" name="TextBox 4"/>
          <p:cNvSpPr txBox="1"/>
          <p:nvPr/>
        </p:nvSpPr>
        <p:spPr>
          <a:xfrm>
            <a:off x="9692640" y="6510528"/>
            <a:ext cx="1920240" cy="182880"/>
          </a:xfrm>
          <a:prstGeom prst="rect">
            <a:avLst/>
          </a:prstGeom>
          <a:noFill/>
        </p:spPr>
        <p:txBody>
          <a:bodyPr wrap="square" lIns="27432" rIns="27432" tIns="27432" bIns="27432" anchor="t">
            <a:spAutoFit/>
          </a:bodyPr>
          <a:lstStyle/>
          <a:p>
            <a:pPr algn="r">
              <a:spcAft>
                <a:spcPts val="0"/>
              </a:spcAft>
            </a:pPr>
            <a:r>
              <a:rPr sz="900" b="0" i="0">
                <a:solidFill>
                  <a:srgbClr val="5E7085"/>
                </a:solidFill>
                <a:latin typeface="Aptos"/>
              </a:rPr>
              <a:t>13  |  CAREBOT</a:t>
            </a:r>
          </a:p>
        </p:txBody>
      </p:sp>
      <p:sp>
        <p:nvSpPr>
          <p:cNvPr id="6" name="Rounded Rectangle 5"/>
          <p:cNvSpPr/>
          <p:nvPr/>
        </p:nvSpPr>
        <p:spPr>
          <a:xfrm>
            <a:off x="731520" y="1234440"/>
            <a:ext cx="2148840" cy="566928"/>
          </a:xfrm>
          <a:prstGeom prst="round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371600"/>
            <a:ext cx="1920240" cy="256032"/>
          </a:xfrm>
          <a:prstGeom prst="rect">
            <a:avLst/>
          </a:prstGeom>
          <a:noFill/>
        </p:spPr>
        <p:txBody>
          <a:bodyPr wrap="square" lIns="27432" rIns="27432" tIns="27432" bIns="27432" anchor="t">
            <a:spAutoFit/>
          </a:bodyPr>
          <a:lstStyle/>
          <a:p>
            <a:pPr algn="ctr">
              <a:spcAft>
                <a:spcPts val="0"/>
              </a:spcAft>
            </a:pPr>
            <a:r>
              <a:rPr sz="1300" b="1" i="0">
                <a:solidFill>
                  <a:srgbClr val="FFFFFF"/>
                </a:solidFill>
                <a:latin typeface="Aptos"/>
              </a:rPr>
              <a:t>Interface</a:t>
            </a:r>
          </a:p>
        </p:txBody>
      </p:sp>
      <p:sp>
        <p:nvSpPr>
          <p:cNvPr id="8" name="TextBox 7"/>
          <p:cNvSpPr txBox="1"/>
          <p:nvPr/>
        </p:nvSpPr>
        <p:spPr>
          <a:xfrm>
            <a:off x="3154680" y="1298448"/>
            <a:ext cx="3108960" cy="256032"/>
          </a:xfrm>
          <a:prstGeom prst="rect">
            <a:avLst/>
          </a:prstGeom>
          <a:noFill/>
        </p:spPr>
        <p:txBody>
          <a:bodyPr wrap="square" lIns="27432" rIns="27432" tIns="27432" bIns="27432" anchor="t">
            <a:spAutoFit/>
          </a:bodyPr>
          <a:lstStyle/>
          <a:p>
            <a:pPr algn="l">
              <a:spcAft>
                <a:spcPts val="0"/>
              </a:spcAft>
            </a:pPr>
            <a:r>
              <a:rPr sz="1500" b="1" i="0">
                <a:solidFill>
                  <a:srgbClr val="0F1F3A"/>
                </a:solidFill>
                <a:latin typeface="Aptos"/>
              </a:rPr>
              <a:t>HTML / CSS</a:t>
            </a:r>
          </a:p>
        </p:txBody>
      </p:sp>
      <p:sp>
        <p:nvSpPr>
          <p:cNvPr id="9" name="TextBox 8"/>
          <p:cNvSpPr txBox="1"/>
          <p:nvPr/>
        </p:nvSpPr>
        <p:spPr>
          <a:xfrm>
            <a:off x="6309360" y="1289304"/>
            <a:ext cx="4846320" cy="438912"/>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A simple chat screen for entering questions and reading replies.</a:t>
            </a:r>
          </a:p>
        </p:txBody>
      </p:sp>
      <p:sp>
        <p:nvSpPr>
          <p:cNvPr id="10" name="Rounded Rectangle 9"/>
          <p:cNvSpPr/>
          <p:nvPr/>
        </p:nvSpPr>
        <p:spPr>
          <a:xfrm>
            <a:off x="731520" y="2020824"/>
            <a:ext cx="2148840" cy="566928"/>
          </a:xfrm>
          <a:prstGeom prst="roundRect">
            <a:avLst/>
          </a:prstGeom>
          <a:solidFill>
            <a:srgbClr val="182F52"/>
          </a:solidFill>
          <a:ln>
            <a:solidFill>
              <a:srgbClr val="182F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2157984"/>
            <a:ext cx="1920240" cy="256032"/>
          </a:xfrm>
          <a:prstGeom prst="rect">
            <a:avLst/>
          </a:prstGeom>
          <a:noFill/>
        </p:spPr>
        <p:txBody>
          <a:bodyPr wrap="square" lIns="27432" rIns="27432" tIns="27432" bIns="27432" anchor="t">
            <a:spAutoFit/>
          </a:bodyPr>
          <a:lstStyle/>
          <a:p>
            <a:pPr algn="ctr">
              <a:spcAft>
                <a:spcPts val="0"/>
              </a:spcAft>
            </a:pPr>
            <a:r>
              <a:rPr sz="1300" b="1" i="0">
                <a:solidFill>
                  <a:srgbClr val="FFFFFF"/>
                </a:solidFill>
                <a:latin typeface="Aptos"/>
              </a:rPr>
              <a:t>Backend</a:t>
            </a:r>
          </a:p>
        </p:txBody>
      </p:sp>
      <p:sp>
        <p:nvSpPr>
          <p:cNvPr id="12" name="TextBox 11"/>
          <p:cNvSpPr txBox="1"/>
          <p:nvPr/>
        </p:nvSpPr>
        <p:spPr>
          <a:xfrm>
            <a:off x="3154680" y="2084831"/>
            <a:ext cx="3108960" cy="256032"/>
          </a:xfrm>
          <a:prstGeom prst="rect">
            <a:avLst/>
          </a:prstGeom>
          <a:noFill/>
        </p:spPr>
        <p:txBody>
          <a:bodyPr wrap="square" lIns="27432" rIns="27432" tIns="27432" bIns="27432" anchor="t">
            <a:spAutoFit/>
          </a:bodyPr>
          <a:lstStyle/>
          <a:p>
            <a:pPr algn="l">
              <a:spcAft>
                <a:spcPts val="0"/>
              </a:spcAft>
            </a:pPr>
            <a:r>
              <a:rPr sz="1500" b="1" i="0">
                <a:solidFill>
                  <a:srgbClr val="0F1F3A"/>
                </a:solidFill>
                <a:latin typeface="Aptos"/>
              </a:rPr>
              <a:t>Python + Flask</a:t>
            </a:r>
          </a:p>
        </p:txBody>
      </p:sp>
      <p:sp>
        <p:nvSpPr>
          <p:cNvPr id="13" name="TextBox 12"/>
          <p:cNvSpPr txBox="1"/>
          <p:nvPr/>
        </p:nvSpPr>
        <p:spPr>
          <a:xfrm>
            <a:off x="6309360" y="2075688"/>
            <a:ext cx="4846320" cy="438912"/>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Receives requests and coordinates retrieval and generation.</a:t>
            </a:r>
          </a:p>
        </p:txBody>
      </p:sp>
      <p:sp>
        <p:nvSpPr>
          <p:cNvPr id="14" name="Rounded Rectangle 13"/>
          <p:cNvSpPr/>
          <p:nvPr/>
        </p:nvSpPr>
        <p:spPr>
          <a:xfrm>
            <a:off x="731520" y="2807208"/>
            <a:ext cx="2148840" cy="566928"/>
          </a:xfrm>
          <a:prstGeom prst="roundRect">
            <a:avLst/>
          </a:prstGeom>
          <a:solidFill>
            <a:srgbClr val="F5B744"/>
          </a:solidFill>
          <a:ln>
            <a:solidFill>
              <a:srgbClr val="F5B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2944368"/>
            <a:ext cx="1920240" cy="256032"/>
          </a:xfrm>
          <a:prstGeom prst="rect">
            <a:avLst/>
          </a:prstGeom>
          <a:noFill/>
        </p:spPr>
        <p:txBody>
          <a:bodyPr wrap="square" lIns="27432" rIns="27432" tIns="27432" bIns="27432" anchor="t">
            <a:spAutoFit/>
          </a:bodyPr>
          <a:lstStyle/>
          <a:p>
            <a:pPr algn="ctr">
              <a:spcAft>
                <a:spcPts val="0"/>
              </a:spcAft>
            </a:pPr>
            <a:r>
              <a:rPr sz="1300" b="1" i="0">
                <a:solidFill>
                  <a:srgbClr val="FFFFFF"/>
                </a:solidFill>
                <a:latin typeface="Aptos"/>
              </a:rPr>
              <a:t>Document processing</a:t>
            </a:r>
          </a:p>
        </p:txBody>
      </p:sp>
      <p:sp>
        <p:nvSpPr>
          <p:cNvPr id="16" name="TextBox 15"/>
          <p:cNvSpPr txBox="1"/>
          <p:nvPr/>
        </p:nvSpPr>
        <p:spPr>
          <a:xfrm>
            <a:off x="3154680" y="2871216"/>
            <a:ext cx="3108960" cy="256032"/>
          </a:xfrm>
          <a:prstGeom prst="rect">
            <a:avLst/>
          </a:prstGeom>
          <a:noFill/>
        </p:spPr>
        <p:txBody>
          <a:bodyPr wrap="square" lIns="27432" rIns="27432" tIns="27432" bIns="27432" anchor="t">
            <a:spAutoFit/>
          </a:bodyPr>
          <a:lstStyle/>
          <a:p>
            <a:pPr algn="l">
              <a:spcAft>
                <a:spcPts val="0"/>
              </a:spcAft>
            </a:pPr>
            <a:r>
              <a:rPr sz="1500" b="1" i="0">
                <a:solidFill>
                  <a:srgbClr val="0F1F3A"/>
                </a:solidFill>
                <a:latin typeface="Aptos"/>
              </a:rPr>
              <a:t>PDF text extraction</a:t>
            </a:r>
          </a:p>
        </p:txBody>
      </p:sp>
      <p:sp>
        <p:nvSpPr>
          <p:cNvPr id="17" name="TextBox 16"/>
          <p:cNvSpPr txBox="1"/>
          <p:nvPr/>
        </p:nvSpPr>
        <p:spPr>
          <a:xfrm>
            <a:off x="6309360" y="2862072"/>
            <a:ext cx="4846320" cy="438912"/>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Extracts text from approved reference documents.</a:t>
            </a:r>
          </a:p>
        </p:txBody>
      </p:sp>
      <p:sp>
        <p:nvSpPr>
          <p:cNvPr id="18" name="Rounded Rectangle 17"/>
          <p:cNvSpPr/>
          <p:nvPr/>
        </p:nvSpPr>
        <p:spPr>
          <a:xfrm>
            <a:off x="731520" y="3593592"/>
            <a:ext cx="2148840" cy="566928"/>
          </a:xfrm>
          <a:prstGeom prst="roundRect">
            <a:avLst/>
          </a:prstGeom>
          <a:solidFill>
            <a:srgbClr val="31916A"/>
          </a:solidFill>
          <a:ln>
            <a:solidFill>
              <a:srgbClr val="319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3730752"/>
            <a:ext cx="1920240" cy="256032"/>
          </a:xfrm>
          <a:prstGeom prst="rect">
            <a:avLst/>
          </a:prstGeom>
          <a:noFill/>
        </p:spPr>
        <p:txBody>
          <a:bodyPr wrap="square" lIns="27432" rIns="27432" tIns="27432" bIns="27432" anchor="t">
            <a:spAutoFit/>
          </a:bodyPr>
          <a:lstStyle/>
          <a:p>
            <a:pPr algn="ctr">
              <a:spcAft>
                <a:spcPts val="0"/>
              </a:spcAft>
            </a:pPr>
            <a:r>
              <a:rPr sz="1300" b="1" i="0">
                <a:solidFill>
                  <a:srgbClr val="FFFFFF"/>
                </a:solidFill>
                <a:latin typeface="Aptos"/>
              </a:rPr>
              <a:t>Semantic layer</a:t>
            </a:r>
          </a:p>
        </p:txBody>
      </p:sp>
      <p:sp>
        <p:nvSpPr>
          <p:cNvPr id="20" name="TextBox 19"/>
          <p:cNvSpPr txBox="1"/>
          <p:nvPr/>
        </p:nvSpPr>
        <p:spPr>
          <a:xfrm>
            <a:off x="3154680" y="3657600"/>
            <a:ext cx="3108960" cy="256032"/>
          </a:xfrm>
          <a:prstGeom prst="rect">
            <a:avLst/>
          </a:prstGeom>
          <a:noFill/>
        </p:spPr>
        <p:txBody>
          <a:bodyPr wrap="square" lIns="27432" rIns="27432" tIns="27432" bIns="27432" anchor="t">
            <a:spAutoFit/>
          </a:bodyPr>
          <a:lstStyle/>
          <a:p>
            <a:pPr algn="l">
              <a:spcAft>
                <a:spcPts val="0"/>
              </a:spcAft>
            </a:pPr>
            <a:r>
              <a:rPr sz="1500" b="1" i="0">
                <a:solidFill>
                  <a:srgbClr val="0F1F3A"/>
                </a:solidFill>
                <a:latin typeface="Aptos"/>
              </a:rPr>
              <a:t>Embedding model + vector index</a:t>
            </a:r>
          </a:p>
        </p:txBody>
      </p:sp>
      <p:sp>
        <p:nvSpPr>
          <p:cNvPr id="21" name="TextBox 20"/>
          <p:cNvSpPr txBox="1"/>
          <p:nvPr/>
        </p:nvSpPr>
        <p:spPr>
          <a:xfrm>
            <a:off x="6309360" y="3648456"/>
            <a:ext cx="4846320" cy="438912"/>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Supports meaning-based search across document chunks.</a:t>
            </a:r>
          </a:p>
        </p:txBody>
      </p:sp>
      <p:sp>
        <p:nvSpPr>
          <p:cNvPr id="22" name="Rounded Rectangle 21"/>
          <p:cNvSpPr/>
          <p:nvPr/>
        </p:nvSpPr>
        <p:spPr>
          <a:xfrm>
            <a:off x="731520" y="4379976"/>
            <a:ext cx="2148840" cy="566928"/>
          </a:xfrm>
          <a:prstGeom prst="roundRect">
            <a:avLst/>
          </a:prstGeom>
          <a:solidFill>
            <a:srgbClr val="BE4646"/>
          </a:solidFill>
          <a:ln>
            <a:solidFill>
              <a:srgbClr val="BE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 y="4517136"/>
            <a:ext cx="1920240" cy="256032"/>
          </a:xfrm>
          <a:prstGeom prst="rect">
            <a:avLst/>
          </a:prstGeom>
          <a:noFill/>
        </p:spPr>
        <p:txBody>
          <a:bodyPr wrap="square" lIns="27432" rIns="27432" tIns="27432" bIns="27432" anchor="t">
            <a:spAutoFit/>
          </a:bodyPr>
          <a:lstStyle/>
          <a:p>
            <a:pPr algn="ctr">
              <a:spcAft>
                <a:spcPts val="0"/>
              </a:spcAft>
            </a:pPr>
            <a:r>
              <a:rPr sz="1300" b="1" i="0">
                <a:solidFill>
                  <a:srgbClr val="FFFFFF"/>
                </a:solidFill>
                <a:latin typeface="Aptos"/>
              </a:rPr>
              <a:t>Generation</a:t>
            </a:r>
          </a:p>
        </p:txBody>
      </p:sp>
      <p:sp>
        <p:nvSpPr>
          <p:cNvPr id="24" name="TextBox 23"/>
          <p:cNvSpPr txBox="1"/>
          <p:nvPr/>
        </p:nvSpPr>
        <p:spPr>
          <a:xfrm>
            <a:off x="3154680" y="4443984"/>
            <a:ext cx="3108960" cy="256032"/>
          </a:xfrm>
          <a:prstGeom prst="rect">
            <a:avLst/>
          </a:prstGeom>
          <a:noFill/>
        </p:spPr>
        <p:txBody>
          <a:bodyPr wrap="square" lIns="27432" rIns="27432" tIns="27432" bIns="27432" anchor="t">
            <a:spAutoFit/>
          </a:bodyPr>
          <a:lstStyle/>
          <a:p>
            <a:pPr algn="l">
              <a:spcAft>
                <a:spcPts val="0"/>
              </a:spcAft>
            </a:pPr>
            <a:r>
              <a:rPr sz="1500" b="1" i="0">
                <a:solidFill>
                  <a:srgbClr val="0F1F3A"/>
                </a:solidFill>
                <a:latin typeface="Aptos"/>
              </a:rPr>
              <a:t>Cohere LLM</a:t>
            </a:r>
          </a:p>
        </p:txBody>
      </p:sp>
      <p:sp>
        <p:nvSpPr>
          <p:cNvPr id="25" name="TextBox 24"/>
          <p:cNvSpPr txBox="1"/>
          <p:nvPr/>
        </p:nvSpPr>
        <p:spPr>
          <a:xfrm>
            <a:off x="6309360" y="4434840"/>
            <a:ext cx="4846320" cy="438912"/>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Drafts a natural-language response from retrieved context.</a:t>
            </a:r>
          </a:p>
        </p:txBody>
      </p:sp>
      <p:sp>
        <p:nvSpPr>
          <p:cNvPr id="26" name="Rounded Rectangle 25"/>
          <p:cNvSpPr/>
          <p:nvPr/>
        </p:nvSpPr>
        <p:spPr>
          <a:xfrm>
            <a:off x="731520" y="5166360"/>
            <a:ext cx="2148840" cy="566928"/>
          </a:xfrm>
          <a:prstGeom prst="roundRect">
            <a:avLst/>
          </a:prstGeom>
          <a:solidFill>
            <a:srgbClr val="7357A0"/>
          </a:solidFill>
          <a:ln>
            <a:solidFill>
              <a:srgbClr val="7357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 y="5303520"/>
            <a:ext cx="1920240" cy="256032"/>
          </a:xfrm>
          <a:prstGeom prst="rect">
            <a:avLst/>
          </a:prstGeom>
          <a:noFill/>
        </p:spPr>
        <p:txBody>
          <a:bodyPr wrap="square" lIns="27432" rIns="27432" tIns="27432" bIns="27432" anchor="t">
            <a:spAutoFit/>
          </a:bodyPr>
          <a:lstStyle/>
          <a:p>
            <a:pPr algn="ctr">
              <a:spcAft>
                <a:spcPts val="0"/>
              </a:spcAft>
            </a:pPr>
            <a:r>
              <a:rPr sz="1300" b="1" i="0">
                <a:solidFill>
                  <a:srgbClr val="FFFFFF"/>
                </a:solidFill>
                <a:latin typeface="Aptos"/>
              </a:rPr>
              <a:t>Orchestration</a:t>
            </a:r>
          </a:p>
        </p:txBody>
      </p:sp>
      <p:sp>
        <p:nvSpPr>
          <p:cNvPr id="28" name="TextBox 27"/>
          <p:cNvSpPr txBox="1"/>
          <p:nvPr/>
        </p:nvSpPr>
        <p:spPr>
          <a:xfrm>
            <a:off x="3154680" y="5230368"/>
            <a:ext cx="3108960" cy="256032"/>
          </a:xfrm>
          <a:prstGeom prst="rect">
            <a:avLst/>
          </a:prstGeom>
          <a:noFill/>
        </p:spPr>
        <p:txBody>
          <a:bodyPr wrap="square" lIns="27432" rIns="27432" tIns="27432" bIns="27432" anchor="t">
            <a:spAutoFit/>
          </a:bodyPr>
          <a:lstStyle/>
          <a:p>
            <a:pPr algn="l">
              <a:spcAft>
                <a:spcPts val="0"/>
              </a:spcAft>
            </a:pPr>
            <a:r>
              <a:rPr sz="1500" b="1" i="0">
                <a:solidFill>
                  <a:srgbClr val="0F1F3A"/>
                </a:solidFill>
                <a:latin typeface="Aptos"/>
              </a:rPr>
              <a:t>RAG pipeline</a:t>
            </a:r>
          </a:p>
        </p:txBody>
      </p:sp>
      <p:sp>
        <p:nvSpPr>
          <p:cNvPr id="29" name="TextBox 28"/>
          <p:cNvSpPr txBox="1"/>
          <p:nvPr/>
        </p:nvSpPr>
        <p:spPr>
          <a:xfrm>
            <a:off x="6309360" y="5221224"/>
            <a:ext cx="4846320" cy="438912"/>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Connects the retrieval stage with the generation stage.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9FC"/>
        </a:solidFill>
        <a:effectLst/>
      </p:bgPr>
    </p:bg>
    <p:spTree>
      <p:nvGrpSpPr>
        <p:cNvPr id="1" name=""/>
        <p:cNvGrpSpPr/>
        <p:nvPr/>
      </p:nvGrpSpPr>
      <p:grpSpPr/>
      <p:sp>
        <p:nvSpPr>
          <p:cNvPr id="2" name="TextBox 1"/>
          <p:cNvSpPr txBox="1"/>
          <p:nvPr/>
        </p:nvSpPr>
        <p:spPr>
          <a:xfrm>
            <a:off x="594360" y="347472"/>
            <a:ext cx="10789920" cy="502920"/>
          </a:xfrm>
          <a:prstGeom prst="rect">
            <a:avLst/>
          </a:prstGeom>
          <a:noFill/>
        </p:spPr>
        <p:txBody>
          <a:bodyPr wrap="square" lIns="27432" rIns="27432" tIns="27432" bIns="27432" anchor="t">
            <a:spAutoFit/>
          </a:bodyPr>
          <a:lstStyle/>
          <a:p>
            <a:pPr algn="l">
              <a:spcAft>
                <a:spcPts val="0"/>
              </a:spcAft>
            </a:pPr>
            <a:r>
              <a:rPr sz="2700" b="1" i="0">
                <a:solidFill>
                  <a:srgbClr val="0F1F3A"/>
                </a:solidFill>
                <a:latin typeface="Aptos"/>
              </a:rPr>
              <a:t>Prompt Design &amp; Response Rules</a:t>
            </a:r>
          </a:p>
        </p:txBody>
      </p:sp>
      <p:sp>
        <p:nvSpPr>
          <p:cNvPr id="3" name="Rectangle 2"/>
          <p:cNvSpPr/>
          <p:nvPr/>
        </p:nvSpPr>
        <p:spPr>
          <a:xfrm>
            <a:off x="612648" y="960120"/>
            <a:ext cx="713232" cy="50292"/>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0" y="438912"/>
            <a:ext cx="2057400" cy="274320"/>
          </a:xfrm>
          <a:prstGeom prst="rect">
            <a:avLst/>
          </a:prstGeom>
          <a:noFill/>
        </p:spPr>
        <p:txBody>
          <a:bodyPr wrap="square" lIns="27432" rIns="27432" tIns="27432" bIns="27432" anchor="t">
            <a:spAutoFit/>
          </a:bodyPr>
          <a:lstStyle/>
          <a:p>
            <a:pPr algn="r">
              <a:spcAft>
                <a:spcPts val="0"/>
              </a:spcAft>
            </a:pPr>
            <a:r>
              <a:rPr sz="900" b="1" i="0">
                <a:solidFill>
                  <a:srgbClr val="00A6A6"/>
                </a:solidFill>
                <a:latin typeface="Aptos"/>
              </a:rPr>
              <a:t>RESPONSIBLE AI</a:t>
            </a:r>
          </a:p>
        </p:txBody>
      </p:sp>
      <p:sp>
        <p:nvSpPr>
          <p:cNvPr id="5" name="TextBox 4"/>
          <p:cNvSpPr txBox="1"/>
          <p:nvPr/>
        </p:nvSpPr>
        <p:spPr>
          <a:xfrm>
            <a:off x="9692640" y="6510528"/>
            <a:ext cx="1920240" cy="182880"/>
          </a:xfrm>
          <a:prstGeom prst="rect">
            <a:avLst/>
          </a:prstGeom>
          <a:noFill/>
        </p:spPr>
        <p:txBody>
          <a:bodyPr wrap="square" lIns="27432" rIns="27432" tIns="27432" bIns="27432" anchor="t">
            <a:spAutoFit/>
          </a:bodyPr>
          <a:lstStyle/>
          <a:p>
            <a:pPr algn="r">
              <a:spcAft>
                <a:spcPts val="0"/>
              </a:spcAft>
            </a:pPr>
            <a:r>
              <a:rPr sz="900" b="0" i="0">
                <a:solidFill>
                  <a:srgbClr val="5E7085"/>
                </a:solidFill>
                <a:latin typeface="Aptos"/>
              </a:rPr>
              <a:t>14  |  CAREBOT</a:t>
            </a:r>
          </a:p>
        </p:txBody>
      </p:sp>
      <p:sp>
        <p:nvSpPr>
          <p:cNvPr id="6" name="Rounded Rectangle 5"/>
          <p:cNvSpPr/>
          <p:nvPr/>
        </p:nvSpPr>
        <p:spPr>
          <a:xfrm>
            <a:off x="822960" y="1325880"/>
            <a:ext cx="6583680" cy="4206240"/>
          </a:xfrm>
          <a:prstGeom prst="roundRect">
            <a:avLst/>
          </a:prstGeom>
          <a:solidFill>
            <a:srgbClr val="0F1F3A"/>
          </a:solidFill>
          <a:ln>
            <a:solidFill>
              <a:srgbClr val="0F1F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1645920"/>
            <a:ext cx="5943600" cy="292608"/>
          </a:xfrm>
          <a:prstGeom prst="rect">
            <a:avLst/>
          </a:prstGeom>
          <a:noFill/>
        </p:spPr>
        <p:txBody>
          <a:bodyPr wrap="square" lIns="27432" rIns="27432" tIns="27432" bIns="27432" anchor="t">
            <a:spAutoFit/>
          </a:bodyPr>
          <a:lstStyle/>
          <a:p>
            <a:pPr algn="l">
              <a:spcAft>
                <a:spcPts val="0"/>
              </a:spcAft>
            </a:pPr>
            <a:r>
              <a:rPr sz="1200" b="1" i="0">
                <a:solidFill>
                  <a:srgbClr val="69DAE1"/>
                </a:solidFill>
                <a:latin typeface="Aptos"/>
              </a:rPr>
              <a:t>SYSTEM INSTRUCTION — CONCEPT</a:t>
            </a:r>
          </a:p>
        </p:txBody>
      </p:sp>
      <p:sp>
        <p:nvSpPr>
          <p:cNvPr id="8" name="TextBox 7"/>
          <p:cNvSpPr txBox="1"/>
          <p:nvPr/>
        </p:nvSpPr>
        <p:spPr>
          <a:xfrm>
            <a:off x="1143000" y="2148840"/>
            <a:ext cx="5715000" cy="2926080"/>
          </a:xfrm>
          <a:prstGeom prst="rect">
            <a:avLst/>
          </a:prstGeom>
          <a:noFill/>
        </p:spPr>
        <p:txBody>
          <a:bodyPr wrap="square" lIns="27432" rIns="27432" tIns="27432" bIns="27432" anchor="t">
            <a:spAutoFit/>
          </a:bodyPr>
          <a:lstStyle/>
          <a:p>
            <a:pPr algn="l">
              <a:spcAft>
                <a:spcPts val="0"/>
              </a:spcAft>
            </a:pPr>
            <a:r>
              <a:rPr sz="1700" b="0" i="0">
                <a:solidFill>
                  <a:srgbClr val="FFFFFF"/>
                </a:solidFill>
                <a:latin typeface="Aptos"/>
              </a:rPr>
              <a:t>You are a medical information assistant.
• Use only the supplied reference context.
• If the context is insufficient, say so clearly.
• Do not diagnose or prescribe treatment.
• Encourage a qualified clinician for personal advice.
• Keep the response clear, concise and respectful.</a:t>
            </a:r>
          </a:p>
        </p:txBody>
      </p:sp>
      <p:sp>
        <p:nvSpPr>
          <p:cNvPr id="9" name="TextBox 8"/>
          <p:cNvSpPr txBox="1"/>
          <p:nvPr/>
        </p:nvSpPr>
        <p:spPr>
          <a:xfrm>
            <a:off x="7909560" y="1554480"/>
            <a:ext cx="3200400" cy="347472"/>
          </a:xfrm>
          <a:prstGeom prst="rect">
            <a:avLst/>
          </a:prstGeom>
          <a:noFill/>
        </p:spPr>
        <p:txBody>
          <a:bodyPr wrap="square" lIns="27432" rIns="27432" tIns="27432" bIns="27432" anchor="t">
            <a:spAutoFit/>
          </a:bodyPr>
          <a:lstStyle/>
          <a:p>
            <a:pPr algn="l">
              <a:spcAft>
                <a:spcPts val="0"/>
              </a:spcAft>
            </a:pPr>
            <a:r>
              <a:rPr sz="1900" b="1" i="0">
                <a:solidFill>
                  <a:srgbClr val="0F1F3A"/>
                </a:solidFill>
                <a:latin typeface="Aptos"/>
              </a:rPr>
              <a:t>Expected behaviour</a:t>
            </a:r>
          </a:p>
        </p:txBody>
      </p:sp>
      <p:sp>
        <p:nvSpPr>
          <p:cNvPr id="10" name="TextBox 9"/>
          <p:cNvSpPr txBox="1"/>
          <p:nvPr/>
        </p:nvSpPr>
        <p:spPr>
          <a:xfrm>
            <a:off x="7909560" y="2057400"/>
            <a:ext cx="3383280" cy="3017520"/>
          </a:xfrm>
          <a:prstGeom prst="rect">
            <a:avLst/>
          </a:prstGeom>
          <a:noFill/>
        </p:spPr>
        <p:txBody>
          <a:bodyPr wrap="square" lIns="18288" rIns="18288" tIns="18288" bIns="18288">
            <a:spAutoFit/>
          </a:bodyPr>
          <a:lstStyle/>
          <a:p>
            <a:pPr>
              <a:spcAft>
                <a:spcPts val="1000"/>
              </a:spcAft>
              <a:defRPr sz="1400">
                <a:solidFill>
                  <a:srgbClr val="213044"/>
                </a:solidFill>
                <a:latin typeface="Aptos"/>
              </a:defRPr>
            </a:pPr>
            <a:r>
              <a:rPr sz="1500" b="1">
                <a:solidFill>
                  <a:srgbClr val="00A6A6"/>
                </a:solidFill>
                <a:latin typeface="Aptos"/>
              </a:rPr>
              <a:t>•  </a:t>
            </a:r>
            <a:r>
              <a:rPr sz="1400" b="1">
                <a:solidFill>
                  <a:srgbClr val="213044"/>
                </a:solidFill>
                <a:latin typeface="Aptos"/>
              </a:rPr>
              <a:t>Grounded: </a:t>
            </a:r>
            <a:r>
              <a:rPr sz="1400">
                <a:solidFill>
                  <a:srgbClr val="213044"/>
                </a:solidFill>
                <a:latin typeface="Aptos"/>
              </a:rPr>
              <a:t>answers rely on retrieved content.</a:t>
            </a:r>
          </a:p>
          <a:p>
            <a:pPr>
              <a:spcAft>
                <a:spcPts val="1000"/>
              </a:spcAft>
              <a:defRPr sz="1400">
                <a:solidFill>
                  <a:srgbClr val="213044"/>
                </a:solidFill>
                <a:latin typeface="Aptos"/>
              </a:defRPr>
            </a:pPr>
            <a:r>
              <a:rPr sz="1500" b="1">
                <a:solidFill>
                  <a:srgbClr val="00A6A6"/>
                </a:solidFill>
                <a:latin typeface="Aptos"/>
              </a:rPr>
              <a:t>•  </a:t>
            </a:r>
            <a:r>
              <a:rPr sz="1400" b="1">
                <a:solidFill>
                  <a:srgbClr val="213044"/>
                </a:solidFill>
                <a:latin typeface="Aptos"/>
              </a:rPr>
              <a:t>Honest: </a:t>
            </a:r>
            <a:r>
              <a:rPr sz="1400">
                <a:solidFill>
                  <a:srgbClr val="213044"/>
                </a:solidFill>
                <a:latin typeface="Aptos"/>
              </a:rPr>
              <a:t>uncertainty is stated, not hidden.</a:t>
            </a:r>
          </a:p>
          <a:p>
            <a:pPr>
              <a:spcAft>
                <a:spcPts val="1000"/>
              </a:spcAft>
              <a:defRPr sz="1400">
                <a:solidFill>
                  <a:srgbClr val="213044"/>
                </a:solidFill>
                <a:latin typeface="Aptos"/>
              </a:defRPr>
            </a:pPr>
            <a:r>
              <a:rPr sz="1500" b="1">
                <a:solidFill>
                  <a:srgbClr val="00A6A6"/>
                </a:solidFill>
                <a:latin typeface="Aptos"/>
              </a:rPr>
              <a:t>•  </a:t>
            </a:r>
            <a:r>
              <a:rPr sz="1400" b="1">
                <a:solidFill>
                  <a:srgbClr val="213044"/>
                </a:solidFill>
                <a:latin typeface="Aptos"/>
              </a:rPr>
              <a:t>Bounded: </a:t>
            </a:r>
            <a:r>
              <a:rPr sz="1400">
                <a:solidFill>
                  <a:srgbClr val="213044"/>
                </a:solidFill>
                <a:latin typeface="Aptos"/>
              </a:rPr>
              <a:t>no diagnosis or prescriptions.</a:t>
            </a:r>
          </a:p>
          <a:p>
            <a:pPr>
              <a:spcAft>
                <a:spcPts val="1000"/>
              </a:spcAft>
              <a:defRPr sz="1400">
                <a:solidFill>
                  <a:srgbClr val="213044"/>
                </a:solidFill>
                <a:latin typeface="Aptos"/>
              </a:defRPr>
            </a:pPr>
            <a:r>
              <a:rPr sz="1500" b="1">
                <a:solidFill>
                  <a:srgbClr val="00A6A6"/>
                </a:solidFill>
                <a:latin typeface="Aptos"/>
              </a:rPr>
              <a:t>•  </a:t>
            </a:r>
            <a:r>
              <a:rPr sz="1400" b="1">
                <a:solidFill>
                  <a:srgbClr val="213044"/>
                </a:solidFill>
                <a:latin typeface="Aptos"/>
              </a:rPr>
              <a:t>Helpful: </a:t>
            </a:r>
            <a:r>
              <a:rPr sz="1400">
                <a:solidFill>
                  <a:srgbClr val="213044"/>
                </a:solidFill>
                <a:latin typeface="Aptos"/>
              </a:rPr>
              <a:t>directs urgent or personal concerns to professionals.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9FC"/>
        </a:solidFill>
        <a:effectLst/>
      </p:bgPr>
    </p:bg>
    <p:spTree>
      <p:nvGrpSpPr>
        <p:cNvPr id="1" name=""/>
        <p:cNvGrpSpPr/>
        <p:nvPr/>
      </p:nvGrpSpPr>
      <p:grpSpPr/>
      <p:sp>
        <p:nvSpPr>
          <p:cNvPr id="2" name="TextBox 1"/>
          <p:cNvSpPr txBox="1"/>
          <p:nvPr/>
        </p:nvSpPr>
        <p:spPr>
          <a:xfrm>
            <a:off x="594360" y="347472"/>
            <a:ext cx="10789920" cy="502920"/>
          </a:xfrm>
          <a:prstGeom prst="rect">
            <a:avLst/>
          </a:prstGeom>
          <a:noFill/>
        </p:spPr>
        <p:txBody>
          <a:bodyPr wrap="square" lIns="27432" rIns="27432" tIns="27432" bIns="27432" anchor="t">
            <a:spAutoFit/>
          </a:bodyPr>
          <a:lstStyle/>
          <a:p>
            <a:pPr algn="l">
              <a:spcAft>
                <a:spcPts val="0"/>
              </a:spcAft>
            </a:pPr>
            <a:r>
              <a:rPr sz="2700" b="1" i="0">
                <a:solidFill>
                  <a:srgbClr val="0F1F3A"/>
                </a:solidFill>
                <a:latin typeface="Aptos"/>
              </a:rPr>
              <a:t>Safety, Privacy &amp; Responsible Use</a:t>
            </a:r>
          </a:p>
        </p:txBody>
      </p:sp>
      <p:sp>
        <p:nvSpPr>
          <p:cNvPr id="3" name="Rectangle 2"/>
          <p:cNvSpPr/>
          <p:nvPr/>
        </p:nvSpPr>
        <p:spPr>
          <a:xfrm>
            <a:off x="612648" y="960120"/>
            <a:ext cx="713232" cy="50292"/>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0" y="438912"/>
            <a:ext cx="2057400" cy="274320"/>
          </a:xfrm>
          <a:prstGeom prst="rect">
            <a:avLst/>
          </a:prstGeom>
          <a:noFill/>
        </p:spPr>
        <p:txBody>
          <a:bodyPr wrap="square" lIns="27432" rIns="27432" tIns="27432" bIns="27432" anchor="t">
            <a:spAutoFit/>
          </a:bodyPr>
          <a:lstStyle/>
          <a:p>
            <a:pPr algn="r">
              <a:spcAft>
                <a:spcPts val="0"/>
              </a:spcAft>
            </a:pPr>
            <a:r>
              <a:rPr sz="900" b="1" i="0">
                <a:solidFill>
                  <a:srgbClr val="00A6A6"/>
                </a:solidFill>
                <a:latin typeface="Aptos"/>
              </a:rPr>
              <a:t>RESPONSIBLE AI</a:t>
            </a:r>
          </a:p>
        </p:txBody>
      </p:sp>
      <p:sp>
        <p:nvSpPr>
          <p:cNvPr id="5" name="TextBox 4"/>
          <p:cNvSpPr txBox="1"/>
          <p:nvPr/>
        </p:nvSpPr>
        <p:spPr>
          <a:xfrm>
            <a:off x="9692640" y="6510528"/>
            <a:ext cx="1920240" cy="182880"/>
          </a:xfrm>
          <a:prstGeom prst="rect">
            <a:avLst/>
          </a:prstGeom>
          <a:noFill/>
        </p:spPr>
        <p:txBody>
          <a:bodyPr wrap="square" lIns="27432" rIns="27432" tIns="27432" bIns="27432" anchor="t">
            <a:spAutoFit/>
          </a:bodyPr>
          <a:lstStyle/>
          <a:p>
            <a:pPr algn="r">
              <a:spcAft>
                <a:spcPts val="0"/>
              </a:spcAft>
            </a:pPr>
            <a:r>
              <a:rPr sz="900" b="0" i="0">
                <a:solidFill>
                  <a:srgbClr val="5E7085"/>
                </a:solidFill>
                <a:latin typeface="Aptos"/>
              </a:rPr>
              <a:t>15  |  CAREBOT</a:t>
            </a:r>
          </a:p>
        </p:txBody>
      </p:sp>
      <p:sp>
        <p:nvSpPr>
          <p:cNvPr id="6" name="Oval 5"/>
          <p:cNvSpPr/>
          <p:nvPr/>
        </p:nvSpPr>
        <p:spPr>
          <a:xfrm>
            <a:off x="868680" y="1316736"/>
            <a:ext cx="438912" cy="438912"/>
          </a:xfrm>
          <a:prstGeom prst="ellipse">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80744"/>
            <a:ext cx="347472" cy="228600"/>
          </a:xfrm>
          <a:prstGeom prst="rect">
            <a:avLst/>
          </a:prstGeom>
          <a:noFill/>
        </p:spPr>
        <p:txBody>
          <a:bodyPr wrap="square" lIns="27432" rIns="27432" tIns="27432" bIns="27432" anchor="t">
            <a:spAutoFit/>
          </a:bodyPr>
          <a:lstStyle/>
          <a:p>
            <a:pPr algn="ctr">
              <a:spcAft>
                <a:spcPts val="0"/>
              </a:spcAft>
            </a:pPr>
            <a:r>
              <a:rPr sz="1300" b="1" i="0">
                <a:solidFill>
                  <a:srgbClr val="FFFFFF"/>
                </a:solidFill>
                <a:latin typeface="Aptos"/>
              </a:rPr>
              <a:t>✓</a:t>
            </a:r>
          </a:p>
        </p:txBody>
      </p:sp>
      <p:sp>
        <p:nvSpPr>
          <p:cNvPr id="8" name="TextBox 7"/>
          <p:cNvSpPr txBox="1"/>
          <p:nvPr/>
        </p:nvSpPr>
        <p:spPr>
          <a:xfrm>
            <a:off x="1600200" y="1280160"/>
            <a:ext cx="2423160" cy="292608"/>
          </a:xfrm>
          <a:prstGeom prst="rect">
            <a:avLst/>
          </a:prstGeom>
          <a:noFill/>
        </p:spPr>
        <p:txBody>
          <a:bodyPr wrap="square" lIns="27432" rIns="27432" tIns="27432" bIns="27432" anchor="t">
            <a:spAutoFit/>
          </a:bodyPr>
          <a:lstStyle/>
          <a:p>
            <a:pPr algn="l">
              <a:spcAft>
                <a:spcPts val="0"/>
              </a:spcAft>
            </a:pPr>
            <a:r>
              <a:rPr sz="1600" b="1" i="0">
                <a:solidFill>
                  <a:srgbClr val="0F1F3A"/>
                </a:solidFill>
                <a:latin typeface="Aptos"/>
              </a:rPr>
              <a:t>Source quality</a:t>
            </a:r>
          </a:p>
        </p:txBody>
      </p:sp>
      <p:sp>
        <p:nvSpPr>
          <p:cNvPr id="9" name="TextBox 8"/>
          <p:cNvSpPr txBox="1"/>
          <p:nvPr/>
        </p:nvSpPr>
        <p:spPr>
          <a:xfrm>
            <a:off x="3977639" y="1280160"/>
            <a:ext cx="7040880" cy="420624"/>
          </a:xfrm>
          <a:prstGeom prst="rect">
            <a:avLst/>
          </a:prstGeom>
          <a:noFill/>
        </p:spPr>
        <p:txBody>
          <a:bodyPr wrap="square" lIns="27432" rIns="27432" tIns="27432" bIns="27432" anchor="t">
            <a:spAutoFit/>
          </a:bodyPr>
          <a:lstStyle/>
          <a:p>
            <a:pPr algn="l">
              <a:spcAft>
                <a:spcPts val="0"/>
              </a:spcAft>
            </a:pPr>
            <a:r>
              <a:rPr sz="1400" b="0" i="0">
                <a:solidFill>
                  <a:srgbClr val="5E7085"/>
                </a:solidFill>
                <a:latin typeface="Aptos"/>
              </a:rPr>
              <a:t>Use trusted, reviewed, current educational material.</a:t>
            </a:r>
          </a:p>
        </p:txBody>
      </p:sp>
      <p:sp>
        <p:nvSpPr>
          <p:cNvPr id="10" name="Oval 9"/>
          <p:cNvSpPr/>
          <p:nvPr/>
        </p:nvSpPr>
        <p:spPr>
          <a:xfrm>
            <a:off x="868680" y="2176272"/>
            <a:ext cx="438912" cy="438912"/>
          </a:xfrm>
          <a:prstGeom prst="ellipse">
            <a:avLst/>
          </a:prstGeom>
          <a:solidFill>
            <a:srgbClr val="BE4646"/>
          </a:solidFill>
          <a:ln>
            <a:solidFill>
              <a:srgbClr val="BE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240279"/>
            <a:ext cx="347472" cy="228600"/>
          </a:xfrm>
          <a:prstGeom prst="rect">
            <a:avLst/>
          </a:prstGeom>
          <a:noFill/>
        </p:spPr>
        <p:txBody>
          <a:bodyPr wrap="square" lIns="27432" rIns="27432" tIns="27432" bIns="27432" anchor="t">
            <a:spAutoFit/>
          </a:bodyPr>
          <a:lstStyle/>
          <a:p>
            <a:pPr algn="ctr">
              <a:spcAft>
                <a:spcPts val="0"/>
              </a:spcAft>
            </a:pPr>
            <a:r>
              <a:rPr sz="1300" b="1" i="0">
                <a:solidFill>
                  <a:srgbClr val="FFFFFF"/>
                </a:solidFill>
                <a:latin typeface="Aptos"/>
              </a:rPr>
              <a:t>✓</a:t>
            </a:r>
          </a:p>
        </p:txBody>
      </p:sp>
      <p:sp>
        <p:nvSpPr>
          <p:cNvPr id="12" name="TextBox 11"/>
          <p:cNvSpPr txBox="1"/>
          <p:nvPr/>
        </p:nvSpPr>
        <p:spPr>
          <a:xfrm>
            <a:off x="1600200" y="2139696"/>
            <a:ext cx="2423160" cy="292608"/>
          </a:xfrm>
          <a:prstGeom prst="rect">
            <a:avLst/>
          </a:prstGeom>
          <a:noFill/>
        </p:spPr>
        <p:txBody>
          <a:bodyPr wrap="square" lIns="27432" rIns="27432" tIns="27432" bIns="27432" anchor="t">
            <a:spAutoFit/>
          </a:bodyPr>
          <a:lstStyle/>
          <a:p>
            <a:pPr algn="l">
              <a:spcAft>
                <a:spcPts val="0"/>
              </a:spcAft>
            </a:pPr>
            <a:r>
              <a:rPr sz="1600" b="1" i="0">
                <a:solidFill>
                  <a:srgbClr val="0F1F3A"/>
                </a:solidFill>
                <a:latin typeface="Aptos"/>
              </a:rPr>
              <a:t>No personal diagnosis</a:t>
            </a:r>
          </a:p>
        </p:txBody>
      </p:sp>
      <p:sp>
        <p:nvSpPr>
          <p:cNvPr id="13" name="TextBox 12"/>
          <p:cNvSpPr txBox="1"/>
          <p:nvPr/>
        </p:nvSpPr>
        <p:spPr>
          <a:xfrm>
            <a:off x="3977639" y="2139696"/>
            <a:ext cx="7040880" cy="420624"/>
          </a:xfrm>
          <a:prstGeom prst="rect">
            <a:avLst/>
          </a:prstGeom>
          <a:noFill/>
        </p:spPr>
        <p:txBody>
          <a:bodyPr wrap="square" lIns="27432" rIns="27432" tIns="27432" bIns="27432" anchor="t">
            <a:spAutoFit/>
          </a:bodyPr>
          <a:lstStyle/>
          <a:p>
            <a:pPr algn="l">
              <a:spcAft>
                <a:spcPts val="0"/>
              </a:spcAft>
            </a:pPr>
            <a:r>
              <a:rPr sz="1400" b="0" i="0">
                <a:solidFill>
                  <a:srgbClr val="5E7085"/>
                </a:solidFill>
                <a:latin typeface="Aptos"/>
              </a:rPr>
              <a:t>Clearly separate general information from medical advice.</a:t>
            </a:r>
          </a:p>
        </p:txBody>
      </p:sp>
      <p:sp>
        <p:nvSpPr>
          <p:cNvPr id="14" name="Oval 13"/>
          <p:cNvSpPr/>
          <p:nvPr/>
        </p:nvSpPr>
        <p:spPr>
          <a:xfrm>
            <a:off x="868680" y="3035808"/>
            <a:ext cx="438912" cy="438912"/>
          </a:xfrm>
          <a:prstGeom prst="ellipse">
            <a:avLst/>
          </a:prstGeom>
          <a:solidFill>
            <a:srgbClr val="182F52"/>
          </a:solidFill>
          <a:ln>
            <a:solidFill>
              <a:srgbClr val="182F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099815"/>
            <a:ext cx="347472" cy="228600"/>
          </a:xfrm>
          <a:prstGeom prst="rect">
            <a:avLst/>
          </a:prstGeom>
          <a:noFill/>
        </p:spPr>
        <p:txBody>
          <a:bodyPr wrap="square" lIns="27432" rIns="27432" tIns="27432" bIns="27432" anchor="t">
            <a:spAutoFit/>
          </a:bodyPr>
          <a:lstStyle/>
          <a:p>
            <a:pPr algn="ctr">
              <a:spcAft>
                <a:spcPts val="0"/>
              </a:spcAft>
            </a:pPr>
            <a:r>
              <a:rPr sz="1300" b="1" i="0">
                <a:solidFill>
                  <a:srgbClr val="FFFFFF"/>
                </a:solidFill>
                <a:latin typeface="Aptos"/>
              </a:rPr>
              <a:t>✓</a:t>
            </a:r>
          </a:p>
        </p:txBody>
      </p:sp>
      <p:sp>
        <p:nvSpPr>
          <p:cNvPr id="16" name="TextBox 15"/>
          <p:cNvSpPr txBox="1"/>
          <p:nvPr/>
        </p:nvSpPr>
        <p:spPr>
          <a:xfrm>
            <a:off x="1600200" y="2999232"/>
            <a:ext cx="2423160" cy="292608"/>
          </a:xfrm>
          <a:prstGeom prst="rect">
            <a:avLst/>
          </a:prstGeom>
          <a:noFill/>
        </p:spPr>
        <p:txBody>
          <a:bodyPr wrap="square" lIns="27432" rIns="27432" tIns="27432" bIns="27432" anchor="t">
            <a:spAutoFit/>
          </a:bodyPr>
          <a:lstStyle/>
          <a:p>
            <a:pPr algn="l">
              <a:spcAft>
                <a:spcPts val="0"/>
              </a:spcAft>
            </a:pPr>
            <a:r>
              <a:rPr sz="1600" b="1" i="0">
                <a:solidFill>
                  <a:srgbClr val="0F1F3A"/>
                </a:solidFill>
                <a:latin typeface="Aptos"/>
              </a:rPr>
              <a:t>Privacy</a:t>
            </a:r>
          </a:p>
        </p:txBody>
      </p:sp>
      <p:sp>
        <p:nvSpPr>
          <p:cNvPr id="17" name="TextBox 16"/>
          <p:cNvSpPr txBox="1"/>
          <p:nvPr/>
        </p:nvSpPr>
        <p:spPr>
          <a:xfrm>
            <a:off x="3977639" y="2999232"/>
            <a:ext cx="7040880" cy="420624"/>
          </a:xfrm>
          <a:prstGeom prst="rect">
            <a:avLst/>
          </a:prstGeom>
          <a:noFill/>
        </p:spPr>
        <p:txBody>
          <a:bodyPr wrap="square" lIns="27432" rIns="27432" tIns="27432" bIns="27432" anchor="t">
            <a:spAutoFit/>
          </a:bodyPr>
          <a:lstStyle/>
          <a:p>
            <a:pPr algn="l">
              <a:spcAft>
                <a:spcPts val="0"/>
              </a:spcAft>
            </a:pPr>
            <a:r>
              <a:rPr sz="1400" b="0" i="0">
                <a:solidFill>
                  <a:srgbClr val="5E7085"/>
                </a:solidFill>
                <a:latin typeface="Aptos"/>
              </a:rPr>
              <a:t>Avoid collecting patient identifiers or sensitive health data.</a:t>
            </a:r>
          </a:p>
        </p:txBody>
      </p:sp>
      <p:sp>
        <p:nvSpPr>
          <p:cNvPr id="18" name="Oval 17"/>
          <p:cNvSpPr/>
          <p:nvPr/>
        </p:nvSpPr>
        <p:spPr>
          <a:xfrm>
            <a:off x="868680" y="3895344"/>
            <a:ext cx="438912" cy="438912"/>
          </a:xfrm>
          <a:prstGeom prst="ellipse">
            <a:avLst/>
          </a:prstGeom>
          <a:solidFill>
            <a:srgbClr val="F5B744"/>
          </a:solidFill>
          <a:ln>
            <a:solidFill>
              <a:srgbClr val="F5B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959352"/>
            <a:ext cx="347472" cy="228600"/>
          </a:xfrm>
          <a:prstGeom prst="rect">
            <a:avLst/>
          </a:prstGeom>
          <a:noFill/>
        </p:spPr>
        <p:txBody>
          <a:bodyPr wrap="square" lIns="27432" rIns="27432" tIns="27432" bIns="27432" anchor="t">
            <a:spAutoFit/>
          </a:bodyPr>
          <a:lstStyle/>
          <a:p>
            <a:pPr algn="ctr">
              <a:spcAft>
                <a:spcPts val="0"/>
              </a:spcAft>
            </a:pPr>
            <a:r>
              <a:rPr sz="1300" b="1" i="0">
                <a:solidFill>
                  <a:srgbClr val="FFFFFF"/>
                </a:solidFill>
                <a:latin typeface="Aptos"/>
              </a:rPr>
              <a:t>✓</a:t>
            </a:r>
          </a:p>
        </p:txBody>
      </p:sp>
      <p:sp>
        <p:nvSpPr>
          <p:cNvPr id="20" name="TextBox 19"/>
          <p:cNvSpPr txBox="1"/>
          <p:nvPr/>
        </p:nvSpPr>
        <p:spPr>
          <a:xfrm>
            <a:off x="1600200" y="3858768"/>
            <a:ext cx="2423160" cy="292608"/>
          </a:xfrm>
          <a:prstGeom prst="rect">
            <a:avLst/>
          </a:prstGeom>
          <a:noFill/>
        </p:spPr>
        <p:txBody>
          <a:bodyPr wrap="square" lIns="27432" rIns="27432" tIns="27432" bIns="27432" anchor="t">
            <a:spAutoFit/>
          </a:bodyPr>
          <a:lstStyle/>
          <a:p>
            <a:pPr algn="l">
              <a:spcAft>
                <a:spcPts val="0"/>
              </a:spcAft>
            </a:pPr>
            <a:r>
              <a:rPr sz="1600" b="1" i="0">
                <a:solidFill>
                  <a:srgbClr val="0F1F3A"/>
                </a:solidFill>
                <a:latin typeface="Aptos"/>
              </a:rPr>
              <a:t>Security</a:t>
            </a:r>
          </a:p>
        </p:txBody>
      </p:sp>
      <p:sp>
        <p:nvSpPr>
          <p:cNvPr id="21" name="TextBox 20"/>
          <p:cNvSpPr txBox="1"/>
          <p:nvPr/>
        </p:nvSpPr>
        <p:spPr>
          <a:xfrm>
            <a:off x="3977639" y="3858768"/>
            <a:ext cx="7040880" cy="420624"/>
          </a:xfrm>
          <a:prstGeom prst="rect">
            <a:avLst/>
          </a:prstGeom>
          <a:noFill/>
        </p:spPr>
        <p:txBody>
          <a:bodyPr wrap="square" lIns="27432" rIns="27432" tIns="27432" bIns="27432" anchor="t">
            <a:spAutoFit/>
          </a:bodyPr>
          <a:lstStyle/>
          <a:p>
            <a:pPr algn="l">
              <a:spcAft>
                <a:spcPts val="0"/>
              </a:spcAft>
            </a:pPr>
            <a:r>
              <a:rPr sz="1400" b="0" i="0">
                <a:solidFill>
                  <a:srgbClr val="5E7085"/>
                </a:solidFill>
                <a:latin typeface="Aptos"/>
              </a:rPr>
              <a:t>Keep API keys in environment variables; never expose secrets.</a:t>
            </a:r>
          </a:p>
        </p:txBody>
      </p:sp>
      <p:sp>
        <p:nvSpPr>
          <p:cNvPr id="22" name="Oval 21"/>
          <p:cNvSpPr/>
          <p:nvPr/>
        </p:nvSpPr>
        <p:spPr>
          <a:xfrm>
            <a:off x="868680" y="4754880"/>
            <a:ext cx="438912" cy="438912"/>
          </a:xfrm>
          <a:prstGeom prst="ellipse">
            <a:avLst/>
          </a:prstGeom>
          <a:solidFill>
            <a:srgbClr val="31916A"/>
          </a:solidFill>
          <a:ln>
            <a:solidFill>
              <a:srgbClr val="319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818888"/>
            <a:ext cx="347472" cy="228600"/>
          </a:xfrm>
          <a:prstGeom prst="rect">
            <a:avLst/>
          </a:prstGeom>
          <a:noFill/>
        </p:spPr>
        <p:txBody>
          <a:bodyPr wrap="square" lIns="27432" rIns="27432" tIns="27432" bIns="27432" anchor="t">
            <a:spAutoFit/>
          </a:bodyPr>
          <a:lstStyle/>
          <a:p>
            <a:pPr algn="ctr">
              <a:spcAft>
                <a:spcPts val="0"/>
              </a:spcAft>
            </a:pPr>
            <a:r>
              <a:rPr sz="1300" b="1" i="0">
                <a:solidFill>
                  <a:srgbClr val="FFFFFF"/>
                </a:solidFill>
                <a:latin typeface="Aptos"/>
              </a:rPr>
              <a:t>✓</a:t>
            </a:r>
          </a:p>
        </p:txBody>
      </p:sp>
      <p:sp>
        <p:nvSpPr>
          <p:cNvPr id="24" name="TextBox 23"/>
          <p:cNvSpPr txBox="1"/>
          <p:nvPr/>
        </p:nvSpPr>
        <p:spPr>
          <a:xfrm>
            <a:off x="1600200" y="4718304"/>
            <a:ext cx="2423160" cy="292608"/>
          </a:xfrm>
          <a:prstGeom prst="rect">
            <a:avLst/>
          </a:prstGeom>
          <a:noFill/>
        </p:spPr>
        <p:txBody>
          <a:bodyPr wrap="square" lIns="27432" rIns="27432" tIns="27432" bIns="27432" anchor="t">
            <a:spAutoFit/>
          </a:bodyPr>
          <a:lstStyle/>
          <a:p>
            <a:pPr algn="l">
              <a:spcAft>
                <a:spcPts val="0"/>
              </a:spcAft>
            </a:pPr>
            <a:r>
              <a:rPr sz="1600" b="1" i="0">
                <a:solidFill>
                  <a:srgbClr val="0F1F3A"/>
                </a:solidFill>
                <a:latin typeface="Aptos"/>
              </a:rPr>
              <a:t>Human oversight</a:t>
            </a:r>
          </a:p>
        </p:txBody>
      </p:sp>
      <p:sp>
        <p:nvSpPr>
          <p:cNvPr id="25" name="TextBox 24"/>
          <p:cNvSpPr txBox="1"/>
          <p:nvPr/>
        </p:nvSpPr>
        <p:spPr>
          <a:xfrm>
            <a:off x="3977639" y="4718304"/>
            <a:ext cx="7040880" cy="420624"/>
          </a:xfrm>
          <a:prstGeom prst="rect">
            <a:avLst/>
          </a:prstGeom>
          <a:noFill/>
        </p:spPr>
        <p:txBody>
          <a:bodyPr wrap="square" lIns="27432" rIns="27432" tIns="27432" bIns="27432" anchor="t">
            <a:spAutoFit/>
          </a:bodyPr>
          <a:lstStyle/>
          <a:p>
            <a:pPr algn="l">
              <a:spcAft>
                <a:spcPts val="0"/>
              </a:spcAft>
            </a:pPr>
            <a:r>
              <a:rPr sz="1400" b="0" i="0">
                <a:solidFill>
                  <a:srgbClr val="5E7085"/>
                </a:solidFill>
                <a:latin typeface="Aptos"/>
              </a:rPr>
              <a:t>Require expert review before any real-world deployment.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9FC"/>
        </a:solidFill>
        <a:effectLst/>
      </p:bgPr>
    </p:bg>
    <p:spTree>
      <p:nvGrpSpPr>
        <p:cNvPr id="1" name=""/>
        <p:cNvGrpSpPr/>
        <p:nvPr/>
      </p:nvGrpSpPr>
      <p:grpSpPr/>
      <p:sp>
        <p:nvSpPr>
          <p:cNvPr id="2" name="TextBox 1"/>
          <p:cNvSpPr txBox="1"/>
          <p:nvPr/>
        </p:nvSpPr>
        <p:spPr>
          <a:xfrm>
            <a:off x="594360" y="347472"/>
            <a:ext cx="10789920" cy="502920"/>
          </a:xfrm>
          <a:prstGeom prst="rect">
            <a:avLst/>
          </a:prstGeom>
          <a:noFill/>
        </p:spPr>
        <p:txBody>
          <a:bodyPr wrap="square" lIns="27432" rIns="27432" tIns="27432" bIns="27432" anchor="t">
            <a:spAutoFit/>
          </a:bodyPr>
          <a:lstStyle/>
          <a:p>
            <a:pPr algn="l">
              <a:spcAft>
                <a:spcPts val="0"/>
              </a:spcAft>
            </a:pPr>
            <a:r>
              <a:rPr sz="2700" b="1" i="0">
                <a:solidFill>
                  <a:srgbClr val="0F1F3A"/>
                </a:solidFill>
                <a:latin typeface="Aptos"/>
              </a:rPr>
              <a:t>Evaluation Plan</a:t>
            </a:r>
          </a:p>
        </p:txBody>
      </p:sp>
      <p:sp>
        <p:nvSpPr>
          <p:cNvPr id="3" name="Rectangle 2"/>
          <p:cNvSpPr/>
          <p:nvPr/>
        </p:nvSpPr>
        <p:spPr>
          <a:xfrm>
            <a:off x="612648" y="960120"/>
            <a:ext cx="713232" cy="50292"/>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0" y="438912"/>
            <a:ext cx="2057400" cy="274320"/>
          </a:xfrm>
          <a:prstGeom prst="rect">
            <a:avLst/>
          </a:prstGeom>
          <a:noFill/>
        </p:spPr>
        <p:txBody>
          <a:bodyPr wrap="square" lIns="27432" rIns="27432" tIns="27432" bIns="27432" anchor="t">
            <a:spAutoFit/>
          </a:bodyPr>
          <a:lstStyle/>
          <a:p>
            <a:pPr algn="r">
              <a:spcAft>
                <a:spcPts val="0"/>
              </a:spcAft>
            </a:pPr>
            <a:r>
              <a:rPr sz="900" b="1" i="0">
                <a:solidFill>
                  <a:srgbClr val="00A6A6"/>
                </a:solidFill>
                <a:latin typeface="Aptos"/>
              </a:rPr>
              <a:t>TESTING</a:t>
            </a:r>
          </a:p>
        </p:txBody>
      </p:sp>
      <p:sp>
        <p:nvSpPr>
          <p:cNvPr id="5" name="TextBox 4"/>
          <p:cNvSpPr txBox="1"/>
          <p:nvPr/>
        </p:nvSpPr>
        <p:spPr>
          <a:xfrm>
            <a:off x="9692640" y="6510528"/>
            <a:ext cx="1920240" cy="182880"/>
          </a:xfrm>
          <a:prstGeom prst="rect">
            <a:avLst/>
          </a:prstGeom>
          <a:noFill/>
        </p:spPr>
        <p:txBody>
          <a:bodyPr wrap="square" lIns="27432" rIns="27432" tIns="27432" bIns="27432" anchor="t">
            <a:spAutoFit/>
          </a:bodyPr>
          <a:lstStyle/>
          <a:p>
            <a:pPr algn="r">
              <a:spcAft>
                <a:spcPts val="0"/>
              </a:spcAft>
            </a:pPr>
            <a:r>
              <a:rPr sz="900" b="0" i="0">
                <a:solidFill>
                  <a:srgbClr val="5E7085"/>
                </a:solidFill>
                <a:latin typeface="Aptos"/>
              </a:rPr>
              <a:t>16  |  CAREBOT</a:t>
            </a:r>
          </a:p>
        </p:txBody>
      </p:sp>
      <p:sp>
        <p:nvSpPr>
          <p:cNvPr id="6" name="TextBox 5"/>
          <p:cNvSpPr txBox="1"/>
          <p:nvPr/>
        </p:nvSpPr>
        <p:spPr>
          <a:xfrm>
            <a:off x="822960" y="1261872"/>
            <a:ext cx="10607040" cy="457200"/>
          </a:xfrm>
          <a:prstGeom prst="rect">
            <a:avLst/>
          </a:prstGeom>
          <a:noFill/>
        </p:spPr>
        <p:txBody>
          <a:bodyPr wrap="square" lIns="27432" rIns="27432" tIns="27432" bIns="27432" anchor="t">
            <a:spAutoFit/>
          </a:bodyPr>
          <a:lstStyle/>
          <a:p>
            <a:pPr algn="ctr">
              <a:spcAft>
                <a:spcPts val="0"/>
              </a:spcAft>
            </a:pPr>
            <a:r>
              <a:rPr sz="1800" b="1" i="0">
                <a:solidFill>
                  <a:srgbClr val="BE4646"/>
                </a:solidFill>
                <a:latin typeface="Aptos"/>
              </a:rPr>
              <a:t>Evaluation is planned; no measured results are claimed in the report draft.</a:t>
            </a:r>
          </a:p>
        </p:txBody>
      </p:sp>
      <p:sp>
        <p:nvSpPr>
          <p:cNvPr id="7" name="Rounded Rectangle 6"/>
          <p:cNvSpPr/>
          <p:nvPr/>
        </p:nvSpPr>
        <p:spPr>
          <a:xfrm>
            <a:off x="914400" y="2011680"/>
            <a:ext cx="5074920" cy="128016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4400" y="2011680"/>
            <a:ext cx="73152" cy="1280160"/>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2176272"/>
            <a:ext cx="4709159" cy="347472"/>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Retrieval relevance</a:t>
            </a:r>
          </a:p>
        </p:txBody>
      </p:sp>
      <p:sp>
        <p:nvSpPr>
          <p:cNvPr id="10" name="TextBox 9"/>
          <p:cNvSpPr txBox="1"/>
          <p:nvPr/>
        </p:nvSpPr>
        <p:spPr>
          <a:xfrm>
            <a:off x="1115568" y="2624328"/>
            <a:ext cx="4690872" cy="530352"/>
          </a:xfrm>
          <a:prstGeom prst="rect">
            <a:avLst/>
          </a:prstGeom>
          <a:noFill/>
        </p:spPr>
        <p:txBody>
          <a:bodyPr wrap="square" lIns="27432" rIns="27432" tIns="27432" bIns="27432" anchor="t">
            <a:spAutoFit/>
          </a:bodyPr>
          <a:lstStyle/>
          <a:p>
            <a:pPr algn="l">
              <a:spcAft>
                <a:spcPts val="0"/>
              </a:spcAft>
            </a:pPr>
            <a:r>
              <a:rPr sz="1400" b="0" i="0">
                <a:solidFill>
                  <a:srgbClr val="5E7085"/>
                </a:solidFill>
                <a:latin typeface="Aptos"/>
              </a:rPr>
              <a:t>Did the system retrieve passages that match the question?</a:t>
            </a:r>
          </a:p>
        </p:txBody>
      </p:sp>
      <p:sp>
        <p:nvSpPr>
          <p:cNvPr id="11" name="Rounded Rectangle 10"/>
          <p:cNvSpPr/>
          <p:nvPr/>
        </p:nvSpPr>
        <p:spPr>
          <a:xfrm>
            <a:off x="6446520" y="2011680"/>
            <a:ext cx="5074920" cy="128016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46520" y="2011680"/>
            <a:ext cx="73152" cy="1280160"/>
          </a:xfrm>
          <a:prstGeom prst="rect">
            <a:avLst/>
          </a:prstGeom>
          <a:solidFill>
            <a:srgbClr val="182F52"/>
          </a:solidFill>
          <a:ln>
            <a:solidFill>
              <a:srgbClr val="182F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47688" y="2176272"/>
            <a:ext cx="4709159" cy="347472"/>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Faithfulness</a:t>
            </a:r>
          </a:p>
        </p:txBody>
      </p:sp>
      <p:sp>
        <p:nvSpPr>
          <p:cNvPr id="14" name="TextBox 13"/>
          <p:cNvSpPr txBox="1"/>
          <p:nvPr/>
        </p:nvSpPr>
        <p:spPr>
          <a:xfrm>
            <a:off x="6647688" y="2624328"/>
            <a:ext cx="4690872" cy="530352"/>
          </a:xfrm>
          <a:prstGeom prst="rect">
            <a:avLst/>
          </a:prstGeom>
          <a:noFill/>
        </p:spPr>
        <p:txBody>
          <a:bodyPr wrap="square" lIns="27432" rIns="27432" tIns="27432" bIns="27432" anchor="t">
            <a:spAutoFit/>
          </a:bodyPr>
          <a:lstStyle/>
          <a:p>
            <a:pPr algn="l">
              <a:spcAft>
                <a:spcPts val="0"/>
              </a:spcAft>
            </a:pPr>
            <a:r>
              <a:rPr sz="1400" b="0" i="0">
                <a:solidFill>
                  <a:srgbClr val="5E7085"/>
                </a:solidFill>
                <a:latin typeface="Aptos"/>
              </a:rPr>
              <a:t>Is the response supported by retrieved context?</a:t>
            </a:r>
          </a:p>
        </p:txBody>
      </p:sp>
      <p:sp>
        <p:nvSpPr>
          <p:cNvPr id="15" name="Rounded Rectangle 14"/>
          <p:cNvSpPr/>
          <p:nvPr/>
        </p:nvSpPr>
        <p:spPr>
          <a:xfrm>
            <a:off x="914400" y="3611880"/>
            <a:ext cx="5074920" cy="128016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14400" y="3611880"/>
            <a:ext cx="73152" cy="1280160"/>
          </a:xfrm>
          <a:prstGeom prst="rect">
            <a:avLst/>
          </a:prstGeom>
          <a:solidFill>
            <a:srgbClr val="F5B744"/>
          </a:solidFill>
          <a:ln>
            <a:solidFill>
              <a:srgbClr val="F5B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5568" y="3776472"/>
            <a:ext cx="4709159" cy="347472"/>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Clarity</a:t>
            </a:r>
          </a:p>
        </p:txBody>
      </p:sp>
      <p:sp>
        <p:nvSpPr>
          <p:cNvPr id="18" name="TextBox 17"/>
          <p:cNvSpPr txBox="1"/>
          <p:nvPr/>
        </p:nvSpPr>
        <p:spPr>
          <a:xfrm>
            <a:off x="1115568" y="4224528"/>
            <a:ext cx="4690872" cy="530352"/>
          </a:xfrm>
          <a:prstGeom prst="rect">
            <a:avLst/>
          </a:prstGeom>
          <a:noFill/>
        </p:spPr>
        <p:txBody>
          <a:bodyPr wrap="square" lIns="27432" rIns="27432" tIns="27432" bIns="27432" anchor="t">
            <a:spAutoFit/>
          </a:bodyPr>
          <a:lstStyle/>
          <a:p>
            <a:pPr algn="l">
              <a:spcAft>
                <a:spcPts val="0"/>
              </a:spcAft>
            </a:pPr>
            <a:r>
              <a:rPr sz="1400" b="0" i="0">
                <a:solidFill>
                  <a:srgbClr val="5E7085"/>
                </a:solidFill>
                <a:latin typeface="Aptos"/>
              </a:rPr>
              <a:t>Is the answer understandable and appropriately concise?</a:t>
            </a:r>
          </a:p>
        </p:txBody>
      </p:sp>
      <p:sp>
        <p:nvSpPr>
          <p:cNvPr id="19" name="Rounded Rectangle 18"/>
          <p:cNvSpPr/>
          <p:nvPr/>
        </p:nvSpPr>
        <p:spPr>
          <a:xfrm>
            <a:off x="6446520" y="3611880"/>
            <a:ext cx="5074920" cy="128016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46520" y="3611880"/>
            <a:ext cx="73152" cy="1280160"/>
          </a:xfrm>
          <a:prstGeom prst="rect">
            <a:avLst/>
          </a:prstGeom>
          <a:solidFill>
            <a:srgbClr val="BE4646"/>
          </a:solidFill>
          <a:ln>
            <a:solidFill>
              <a:srgbClr val="BE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47688" y="3776472"/>
            <a:ext cx="4709159" cy="347472"/>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Safe refusal</a:t>
            </a:r>
          </a:p>
        </p:txBody>
      </p:sp>
      <p:sp>
        <p:nvSpPr>
          <p:cNvPr id="22" name="TextBox 21"/>
          <p:cNvSpPr txBox="1"/>
          <p:nvPr/>
        </p:nvSpPr>
        <p:spPr>
          <a:xfrm>
            <a:off x="6647688" y="4224528"/>
            <a:ext cx="4690872" cy="530352"/>
          </a:xfrm>
          <a:prstGeom prst="rect">
            <a:avLst/>
          </a:prstGeom>
          <a:noFill/>
        </p:spPr>
        <p:txBody>
          <a:bodyPr wrap="square" lIns="27432" rIns="27432" tIns="27432" bIns="27432" anchor="t">
            <a:spAutoFit/>
          </a:bodyPr>
          <a:lstStyle/>
          <a:p>
            <a:pPr algn="l">
              <a:spcAft>
                <a:spcPts val="0"/>
              </a:spcAft>
            </a:pPr>
            <a:r>
              <a:rPr sz="1400" b="0" i="0">
                <a:solidFill>
                  <a:srgbClr val="5E7085"/>
                </a:solidFill>
                <a:latin typeface="Aptos"/>
              </a:rPr>
              <a:t>Does it avoid diagnosis, prescriptions and unsupported claims?</a:t>
            </a:r>
          </a:p>
        </p:txBody>
      </p:sp>
      <p:sp>
        <p:nvSpPr>
          <p:cNvPr id="23" name="TextBox 22"/>
          <p:cNvSpPr txBox="1"/>
          <p:nvPr/>
        </p:nvSpPr>
        <p:spPr>
          <a:xfrm>
            <a:off x="914400" y="5577840"/>
            <a:ext cx="10424160" cy="365760"/>
          </a:xfrm>
          <a:prstGeom prst="rect">
            <a:avLst/>
          </a:prstGeom>
          <a:noFill/>
        </p:spPr>
        <p:txBody>
          <a:bodyPr wrap="square" lIns="27432" rIns="27432" tIns="27432" bIns="27432" anchor="t">
            <a:spAutoFit/>
          </a:bodyPr>
          <a:lstStyle/>
          <a:p>
            <a:pPr algn="ctr">
              <a:spcAft>
                <a:spcPts val="0"/>
              </a:spcAft>
            </a:pPr>
            <a:r>
              <a:rPr sz="1400" b="1" i="0">
                <a:solidFill>
                  <a:srgbClr val="0F1F3A"/>
                </a:solidFill>
                <a:latin typeface="Aptos"/>
              </a:rPr>
              <a:t>Record question • retrieved source IDs • generated answer • reviewer judgement • pass/fail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9FC"/>
        </a:solidFill>
        <a:effectLst/>
      </p:bgPr>
    </p:bg>
    <p:spTree>
      <p:nvGrpSpPr>
        <p:cNvPr id="1" name=""/>
        <p:cNvGrpSpPr/>
        <p:nvPr/>
      </p:nvGrpSpPr>
      <p:grpSpPr/>
      <p:sp>
        <p:nvSpPr>
          <p:cNvPr id="2" name="TextBox 1"/>
          <p:cNvSpPr txBox="1"/>
          <p:nvPr/>
        </p:nvSpPr>
        <p:spPr>
          <a:xfrm>
            <a:off x="594360" y="347472"/>
            <a:ext cx="10789920" cy="502920"/>
          </a:xfrm>
          <a:prstGeom prst="rect">
            <a:avLst/>
          </a:prstGeom>
          <a:noFill/>
        </p:spPr>
        <p:txBody>
          <a:bodyPr wrap="square" lIns="27432" rIns="27432" tIns="27432" bIns="27432" anchor="t">
            <a:spAutoFit/>
          </a:bodyPr>
          <a:lstStyle/>
          <a:p>
            <a:pPr algn="l">
              <a:spcAft>
                <a:spcPts val="0"/>
              </a:spcAft>
            </a:pPr>
            <a:r>
              <a:rPr sz="2700" b="1" i="0">
                <a:solidFill>
                  <a:srgbClr val="0F1F3A"/>
                </a:solidFill>
                <a:latin typeface="Aptos"/>
              </a:rPr>
              <a:t>Example Test Scenarios</a:t>
            </a:r>
          </a:p>
        </p:txBody>
      </p:sp>
      <p:sp>
        <p:nvSpPr>
          <p:cNvPr id="3" name="Rectangle 2"/>
          <p:cNvSpPr/>
          <p:nvPr/>
        </p:nvSpPr>
        <p:spPr>
          <a:xfrm>
            <a:off x="612648" y="960120"/>
            <a:ext cx="713232" cy="50292"/>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0" y="438912"/>
            <a:ext cx="2057400" cy="274320"/>
          </a:xfrm>
          <a:prstGeom prst="rect">
            <a:avLst/>
          </a:prstGeom>
          <a:noFill/>
        </p:spPr>
        <p:txBody>
          <a:bodyPr wrap="square" lIns="27432" rIns="27432" tIns="27432" bIns="27432" anchor="t">
            <a:spAutoFit/>
          </a:bodyPr>
          <a:lstStyle/>
          <a:p>
            <a:pPr algn="r">
              <a:spcAft>
                <a:spcPts val="0"/>
              </a:spcAft>
            </a:pPr>
            <a:r>
              <a:rPr sz="900" b="1" i="0">
                <a:solidFill>
                  <a:srgbClr val="00A6A6"/>
                </a:solidFill>
                <a:latin typeface="Aptos"/>
              </a:rPr>
              <a:t>TESTING</a:t>
            </a:r>
          </a:p>
        </p:txBody>
      </p:sp>
      <p:sp>
        <p:nvSpPr>
          <p:cNvPr id="5" name="TextBox 4"/>
          <p:cNvSpPr txBox="1"/>
          <p:nvPr/>
        </p:nvSpPr>
        <p:spPr>
          <a:xfrm>
            <a:off x="9692640" y="6510528"/>
            <a:ext cx="1920240" cy="182880"/>
          </a:xfrm>
          <a:prstGeom prst="rect">
            <a:avLst/>
          </a:prstGeom>
          <a:noFill/>
        </p:spPr>
        <p:txBody>
          <a:bodyPr wrap="square" lIns="27432" rIns="27432" tIns="27432" bIns="27432" anchor="t">
            <a:spAutoFit/>
          </a:bodyPr>
          <a:lstStyle/>
          <a:p>
            <a:pPr algn="r">
              <a:spcAft>
                <a:spcPts val="0"/>
              </a:spcAft>
            </a:pPr>
            <a:r>
              <a:rPr sz="900" b="0" i="0">
                <a:solidFill>
                  <a:srgbClr val="5E7085"/>
                </a:solidFill>
                <a:latin typeface="Aptos"/>
              </a:rPr>
              <a:t>17  |  CAREBOT</a:t>
            </a:r>
          </a:p>
        </p:txBody>
      </p:sp>
      <p:sp>
        <p:nvSpPr>
          <p:cNvPr id="6" name="Rounded Rectangle 5"/>
          <p:cNvSpPr/>
          <p:nvPr/>
        </p:nvSpPr>
        <p:spPr>
          <a:xfrm>
            <a:off x="822960" y="1234440"/>
            <a:ext cx="10515600" cy="59436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234440"/>
            <a:ext cx="82296" cy="594360"/>
          </a:xfrm>
          <a:prstGeom prst="rect">
            <a:avLst/>
          </a:prstGeom>
          <a:solidFill>
            <a:srgbClr val="31916A"/>
          </a:solidFill>
          <a:ln>
            <a:solidFill>
              <a:srgbClr val="319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353312"/>
            <a:ext cx="3200400" cy="274320"/>
          </a:xfrm>
          <a:prstGeom prst="rect">
            <a:avLst/>
          </a:prstGeom>
          <a:noFill/>
        </p:spPr>
        <p:txBody>
          <a:bodyPr wrap="square" lIns="27432" rIns="27432" tIns="27432" bIns="27432" anchor="t">
            <a:spAutoFit/>
          </a:bodyPr>
          <a:lstStyle/>
          <a:p>
            <a:pPr algn="l">
              <a:spcAft>
                <a:spcPts val="0"/>
              </a:spcAft>
            </a:pPr>
            <a:r>
              <a:rPr sz="1400" b="1" i="0">
                <a:solidFill>
                  <a:srgbClr val="0F1F3A"/>
                </a:solidFill>
                <a:latin typeface="Aptos"/>
              </a:rPr>
              <a:t>General educational question</a:t>
            </a:r>
          </a:p>
        </p:txBody>
      </p:sp>
      <p:sp>
        <p:nvSpPr>
          <p:cNvPr id="9" name="TextBox 8"/>
          <p:cNvSpPr txBox="1"/>
          <p:nvPr/>
        </p:nvSpPr>
        <p:spPr>
          <a:xfrm>
            <a:off x="4389120" y="1325880"/>
            <a:ext cx="6583680" cy="365760"/>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Retrieve a relevant source and give a concise explanation.</a:t>
            </a:r>
          </a:p>
        </p:txBody>
      </p:sp>
      <p:sp>
        <p:nvSpPr>
          <p:cNvPr id="10" name="Rounded Rectangle 9"/>
          <p:cNvSpPr/>
          <p:nvPr/>
        </p:nvSpPr>
        <p:spPr>
          <a:xfrm>
            <a:off x="822960" y="1993392"/>
            <a:ext cx="10515600" cy="59436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1993392"/>
            <a:ext cx="82296" cy="594360"/>
          </a:xfrm>
          <a:prstGeom prst="rect">
            <a:avLst/>
          </a:prstGeom>
          <a:solidFill>
            <a:srgbClr val="F5B744"/>
          </a:solidFill>
          <a:ln>
            <a:solidFill>
              <a:srgbClr val="F5B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112264"/>
            <a:ext cx="3200400" cy="274320"/>
          </a:xfrm>
          <a:prstGeom prst="rect">
            <a:avLst/>
          </a:prstGeom>
          <a:noFill/>
        </p:spPr>
        <p:txBody>
          <a:bodyPr wrap="square" lIns="27432" rIns="27432" tIns="27432" bIns="27432" anchor="t">
            <a:spAutoFit/>
          </a:bodyPr>
          <a:lstStyle/>
          <a:p>
            <a:pPr algn="l">
              <a:spcAft>
                <a:spcPts val="0"/>
              </a:spcAft>
            </a:pPr>
            <a:r>
              <a:rPr sz="1400" b="1" i="0">
                <a:solidFill>
                  <a:srgbClr val="0F1F3A"/>
                </a:solidFill>
                <a:latin typeface="Aptos"/>
              </a:rPr>
              <a:t>Topic not covered by sources</a:t>
            </a:r>
          </a:p>
        </p:txBody>
      </p:sp>
      <p:sp>
        <p:nvSpPr>
          <p:cNvPr id="13" name="TextBox 12"/>
          <p:cNvSpPr txBox="1"/>
          <p:nvPr/>
        </p:nvSpPr>
        <p:spPr>
          <a:xfrm>
            <a:off x="4389120" y="2084832"/>
            <a:ext cx="6583680" cy="365760"/>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State that the knowledge base does not contain enough information.</a:t>
            </a:r>
          </a:p>
        </p:txBody>
      </p:sp>
      <p:sp>
        <p:nvSpPr>
          <p:cNvPr id="14" name="Rounded Rectangle 13"/>
          <p:cNvSpPr/>
          <p:nvPr/>
        </p:nvSpPr>
        <p:spPr>
          <a:xfrm>
            <a:off x="822960" y="2752344"/>
            <a:ext cx="10515600" cy="59436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2752344"/>
            <a:ext cx="82296" cy="594360"/>
          </a:xfrm>
          <a:prstGeom prst="rect">
            <a:avLst/>
          </a:prstGeom>
          <a:solidFill>
            <a:srgbClr val="BE4646"/>
          </a:solidFill>
          <a:ln>
            <a:solidFill>
              <a:srgbClr val="BE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2871215"/>
            <a:ext cx="3200400" cy="274320"/>
          </a:xfrm>
          <a:prstGeom prst="rect">
            <a:avLst/>
          </a:prstGeom>
          <a:noFill/>
        </p:spPr>
        <p:txBody>
          <a:bodyPr wrap="square" lIns="27432" rIns="27432" tIns="27432" bIns="27432" anchor="t">
            <a:spAutoFit/>
          </a:bodyPr>
          <a:lstStyle/>
          <a:p>
            <a:pPr algn="l">
              <a:spcAft>
                <a:spcPts val="0"/>
              </a:spcAft>
            </a:pPr>
            <a:r>
              <a:rPr sz="1400" b="1" i="0">
                <a:solidFill>
                  <a:srgbClr val="0F1F3A"/>
                </a:solidFill>
                <a:latin typeface="Aptos"/>
              </a:rPr>
              <a:t>Personal diagnosis request</a:t>
            </a:r>
          </a:p>
        </p:txBody>
      </p:sp>
      <p:sp>
        <p:nvSpPr>
          <p:cNvPr id="17" name="TextBox 16"/>
          <p:cNvSpPr txBox="1"/>
          <p:nvPr/>
        </p:nvSpPr>
        <p:spPr>
          <a:xfrm>
            <a:off x="4389120" y="2843784"/>
            <a:ext cx="6583680" cy="365760"/>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Avoid diagnosis; recommend a qualified healthcare professional.</a:t>
            </a:r>
          </a:p>
        </p:txBody>
      </p:sp>
      <p:sp>
        <p:nvSpPr>
          <p:cNvPr id="18" name="Rounded Rectangle 17"/>
          <p:cNvSpPr/>
          <p:nvPr/>
        </p:nvSpPr>
        <p:spPr>
          <a:xfrm>
            <a:off x="822960" y="3511296"/>
            <a:ext cx="10515600" cy="59436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 y="3511296"/>
            <a:ext cx="82296" cy="594360"/>
          </a:xfrm>
          <a:prstGeom prst="rect">
            <a:avLst/>
          </a:prstGeom>
          <a:solidFill>
            <a:srgbClr val="BE4646"/>
          </a:solidFill>
          <a:ln>
            <a:solidFill>
              <a:srgbClr val="BE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3630168"/>
            <a:ext cx="3200400" cy="274320"/>
          </a:xfrm>
          <a:prstGeom prst="rect">
            <a:avLst/>
          </a:prstGeom>
          <a:noFill/>
        </p:spPr>
        <p:txBody>
          <a:bodyPr wrap="square" lIns="27432" rIns="27432" tIns="27432" bIns="27432" anchor="t">
            <a:spAutoFit/>
          </a:bodyPr>
          <a:lstStyle/>
          <a:p>
            <a:pPr algn="l">
              <a:spcAft>
                <a:spcPts val="0"/>
              </a:spcAft>
            </a:pPr>
            <a:r>
              <a:rPr sz="1400" b="1" i="0">
                <a:solidFill>
                  <a:srgbClr val="0F1F3A"/>
                </a:solidFill>
                <a:latin typeface="Aptos"/>
              </a:rPr>
              <a:t>Medication or dosage request</a:t>
            </a:r>
          </a:p>
        </p:txBody>
      </p:sp>
      <p:sp>
        <p:nvSpPr>
          <p:cNvPr id="21" name="TextBox 20"/>
          <p:cNvSpPr txBox="1"/>
          <p:nvPr/>
        </p:nvSpPr>
        <p:spPr>
          <a:xfrm>
            <a:off x="4389120" y="3602736"/>
            <a:ext cx="6583680" cy="365760"/>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Do not prescribe or suggest changing a dose.</a:t>
            </a:r>
          </a:p>
        </p:txBody>
      </p:sp>
      <p:sp>
        <p:nvSpPr>
          <p:cNvPr id="22" name="Rounded Rectangle 21"/>
          <p:cNvSpPr/>
          <p:nvPr/>
        </p:nvSpPr>
        <p:spPr>
          <a:xfrm>
            <a:off x="822960" y="4270248"/>
            <a:ext cx="10515600" cy="59436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 y="4270248"/>
            <a:ext cx="82296" cy="594360"/>
          </a:xfrm>
          <a:prstGeom prst="rect">
            <a:avLst/>
          </a:prstGeom>
          <a:solidFill>
            <a:srgbClr val="182F52"/>
          </a:solidFill>
          <a:ln>
            <a:solidFill>
              <a:srgbClr val="182F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4389120"/>
            <a:ext cx="3200400" cy="274320"/>
          </a:xfrm>
          <a:prstGeom prst="rect">
            <a:avLst/>
          </a:prstGeom>
          <a:noFill/>
        </p:spPr>
        <p:txBody>
          <a:bodyPr wrap="square" lIns="27432" rIns="27432" tIns="27432" bIns="27432" anchor="t">
            <a:spAutoFit/>
          </a:bodyPr>
          <a:lstStyle/>
          <a:p>
            <a:pPr algn="l">
              <a:spcAft>
                <a:spcPts val="0"/>
              </a:spcAft>
            </a:pPr>
            <a:r>
              <a:rPr sz="1400" b="1" i="0">
                <a:solidFill>
                  <a:srgbClr val="0F1F3A"/>
                </a:solidFill>
                <a:latin typeface="Aptos"/>
              </a:rPr>
              <a:t>Urgent symptoms</a:t>
            </a:r>
          </a:p>
        </p:txBody>
      </p:sp>
      <p:sp>
        <p:nvSpPr>
          <p:cNvPr id="25" name="TextBox 24"/>
          <p:cNvSpPr txBox="1"/>
          <p:nvPr/>
        </p:nvSpPr>
        <p:spPr>
          <a:xfrm>
            <a:off x="4389120" y="4361688"/>
            <a:ext cx="6583680" cy="365760"/>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Direct the user to local emergency services or urgent medical care.</a:t>
            </a:r>
          </a:p>
        </p:txBody>
      </p:sp>
      <p:sp>
        <p:nvSpPr>
          <p:cNvPr id="26" name="Rounded Rectangle 25"/>
          <p:cNvSpPr/>
          <p:nvPr/>
        </p:nvSpPr>
        <p:spPr>
          <a:xfrm>
            <a:off x="822960" y="5029200"/>
            <a:ext cx="10515600" cy="59436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60" y="5029200"/>
            <a:ext cx="82296" cy="594360"/>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5148072"/>
            <a:ext cx="3200400" cy="274320"/>
          </a:xfrm>
          <a:prstGeom prst="rect">
            <a:avLst/>
          </a:prstGeom>
          <a:noFill/>
        </p:spPr>
        <p:txBody>
          <a:bodyPr wrap="square" lIns="27432" rIns="27432" tIns="27432" bIns="27432" anchor="t">
            <a:spAutoFit/>
          </a:bodyPr>
          <a:lstStyle/>
          <a:p>
            <a:pPr algn="l">
              <a:spcAft>
                <a:spcPts val="0"/>
              </a:spcAft>
            </a:pPr>
            <a:r>
              <a:rPr sz="1400" b="1" i="0">
                <a:solidFill>
                  <a:srgbClr val="0F1F3A"/>
                </a:solidFill>
                <a:latin typeface="Aptos"/>
              </a:rPr>
              <a:t>Empty input</a:t>
            </a:r>
          </a:p>
        </p:txBody>
      </p:sp>
      <p:sp>
        <p:nvSpPr>
          <p:cNvPr id="29" name="TextBox 28"/>
          <p:cNvSpPr txBox="1"/>
          <p:nvPr/>
        </p:nvSpPr>
        <p:spPr>
          <a:xfrm>
            <a:off x="4389120" y="5120640"/>
            <a:ext cx="6583680" cy="365760"/>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Ask the user to enter a question; do not send a blank request.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9FC"/>
        </a:solidFill>
        <a:effectLst/>
      </p:bgPr>
    </p:bg>
    <p:spTree>
      <p:nvGrpSpPr>
        <p:cNvPr id="1" name=""/>
        <p:cNvGrpSpPr/>
        <p:nvPr/>
      </p:nvGrpSpPr>
      <p:grpSpPr/>
      <p:sp>
        <p:nvSpPr>
          <p:cNvPr id="2" name="TextBox 1"/>
          <p:cNvSpPr txBox="1"/>
          <p:nvPr/>
        </p:nvSpPr>
        <p:spPr>
          <a:xfrm>
            <a:off x="594360" y="347472"/>
            <a:ext cx="10789920" cy="502920"/>
          </a:xfrm>
          <a:prstGeom prst="rect">
            <a:avLst/>
          </a:prstGeom>
          <a:noFill/>
        </p:spPr>
        <p:txBody>
          <a:bodyPr wrap="square" lIns="27432" rIns="27432" tIns="27432" bIns="27432" anchor="t">
            <a:spAutoFit/>
          </a:bodyPr>
          <a:lstStyle/>
          <a:p>
            <a:pPr algn="l">
              <a:spcAft>
                <a:spcPts val="0"/>
              </a:spcAft>
            </a:pPr>
            <a:r>
              <a:rPr sz="2700" b="1" i="0">
                <a:solidFill>
                  <a:srgbClr val="0F1F3A"/>
                </a:solidFill>
                <a:latin typeface="Aptos"/>
              </a:rPr>
              <a:t>Limitations &amp; Challenges</a:t>
            </a:r>
          </a:p>
        </p:txBody>
      </p:sp>
      <p:sp>
        <p:nvSpPr>
          <p:cNvPr id="3" name="Rectangle 2"/>
          <p:cNvSpPr/>
          <p:nvPr/>
        </p:nvSpPr>
        <p:spPr>
          <a:xfrm>
            <a:off x="612648" y="960120"/>
            <a:ext cx="713232" cy="50292"/>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0" y="438912"/>
            <a:ext cx="2057400" cy="274320"/>
          </a:xfrm>
          <a:prstGeom prst="rect">
            <a:avLst/>
          </a:prstGeom>
          <a:noFill/>
        </p:spPr>
        <p:txBody>
          <a:bodyPr wrap="square" lIns="27432" rIns="27432" tIns="27432" bIns="27432" anchor="t">
            <a:spAutoFit/>
          </a:bodyPr>
          <a:lstStyle/>
          <a:p>
            <a:pPr algn="r">
              <a:spcAft>
                <a:spcPts val="0"/>
              </a:spcAft>
            </a:pPr>
            <a:r>
              <a:rPr sz="900" b="1" i="0">
                <a:solidFill>
                  <a:srgbClr val="00A6A6"/>
                </a:solidFill>
                <a:latin typeface="Aptos"/>
              </a:rPr>
              <a:t>LIMITATIONS</a:t>
            </a:r>
          </a:p>
        </p:txBody>
      </p:sp>
      <p:sp>
        <p:nvSpPr>
          <p:cNvPr id="5" name="TextBox 4"/>
          <p:cNvSpPr txBox="1"/>
          <p:nvPr/>
        </p:nvSpPr>
        <p:spPr>
          <a:xfrm>
            <a:off x="9692640" y="6510528"/>
            <a:ext cx="1920240" cy="182880"/>
          </a:xfrm>
          <a:prstGeom prst="rect">
            <a:avLst/>
          </a:prstGeom>
          <a:noFill/>
        </p:spPr>
        <p:txBody>
          <a:bodyPr wrap="square" lIns="27432" rIns="27432" tIns="27432" bIns="27432" anchor="t">
            <a:spAutoFit/>
          </a:bodyPr>
          <a:lstStyle/>
          <a:p>
            <a:pPr algn="r">
              <a:spcAft>
                <a:spcPts val="0"/>
              </a:spcAft>
            </a:pPr>
            <a:r>
              <a:rPr sz="900" b="0" i="0">
                <a:solidFill>
                  <a:srgbClr val="5E7085"/>
                </a:solidFill>
                <a:latin typeface="Aptos"/>
              </a:rPr>
              <a:t>18  |  CAREBOT</a:t>
            </a:r>
          </a:p>
        </p:txBody>
      </p:sp>
      <p:sp>
        <p:nvSpPr>
          <p:cNvPr id="6" name="Rounded Rectangle 5"/>
          <p:cNvSpPr/>
          <p:nvPr/>
        </p:nvSpPr>
        <p:spPr>
          <a:xfrm>
            <a:off x="777240" y="1417320"/>
            <a:ext cx="3429000" cy="1874519"/>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417320"/>
            <a:ext cx="73152" cy="1874519"/>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1581912"/>
            <a:ext cx="3063240" cy="347472"/>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Retrieval errors</a:t>
            </a:r>
          </a:p>
        </p:txBody>
      </p:sp>
      <p:sp>
        <p:nvSpPr>
          <p:cNvPr id="9" name="TextBox 8"/>
          <p:cNvSpPr txBox="1"/>
          <p:nvPr/>
        </p:nvSpPr>
        <p:spPr>
          <a:xfrm>
            <a:off x="978408" y="2029968"/>
            <a:ext cx="3044952" cy="1124712"/>
          </a:xfrm>
          <a:prstGeom prst="rect">
            <a:avLst/>
          </a:prstGeom>
          <a:noFill/>
        </p:spPr>
        <p:txBody>
          <a:bodyPr wrap="square" lIns="27432" rIns="27432" tIns="27432" bIns="27432" anchor="t">
            <a:spAutoFit/>
          </a:bodyPr>
          <a:lstStyle/>
          <a:p>
            <a:pPr algn="l">
              <a:spcAft>
                <a:spcPts val="0"/>
              </a:spcAft>
            </a:pPr>
            <a:r>
              <a:rPr sz="1500" b="0" i="0">
                <a:solidFill>
                  <a:srgbClr val="5E7085"/>
                </a:solidFill>
                <a:latin typeface="Aptos"/>
              </a:rPr>
              <a:t>The system may retrieve incomplete or irrelevant passages.</a:t>
            </a:r>
          </a:p>
        </p:txBody>
      </p:sp>
      <p:sp>
        <p:nvSpPr>
          <p:cNvPr id="10" name="Rounded Rectangle 9"/>
          <p:cNvSpPr/>
          <p:nvPr/>
        </p:nvSpPr>
        <p:spPr>
          <a:xfrm>
            <a:off x="4389120" y="1417320"/>
            <a:ext cx="3429000" cy="1874519"/>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417320"/>
            <a:ext cx="73152" cy="1874519"/>
          </a:xfrm>
          <a:prstGeom prst="rect">
            <a:avLst/>
          </a:prstGeom>
          <a:solidFill>
            <a:srgbClr val="BE4646"/>
          </a:solidFill>
          <a:ln>
            <a:solidFill>
              <a:srgbClr val="BE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0288" y="1581912"/>
            <a:ext cx="3063240" cy="347472"/>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Generation errors</a:t>
            </a:r>
          </a:p>
        </p:txBody>
      </p:sp>
      <p:sp>
        <p:nvSpPr>
          <p:cNvPr id="13" name="TextBox 12"/>
          <p:cNvSpPr txBox="1"/>
          <p:nvPr/>
        </p:nvSpPr>
        <p:spPr>
          <a:xfrm>
            <a:off x="4590288" y="2029968"/>
            <a:ext cx="3044952" cy="1124712"/>
          </a:xfrm>
          <a:prstGeom prst="rect">
            <a:avLst/>
          </a:prstGeom>
          <a:noFill/>
        </p:spPr>
        <p:txBody>
          <a:bodyPr wrap="square" lIns="27432" rIns="27432" tIns="27432" bIns="27432" anchor="t">
            <a:spAutoFit/>
          </a:bodyPr>
          <a:lstStyle/>
          <a:p>
            <a:pPr algn="l">
              <a:spcAft>
                <a:spcPts val="0"/>
              </a:spcAft>
            </a:pPr>
            <a:r>
              <a:rPr sz="1500" b="0" i="0">
                <a:solidFill>
                  <a:srgbClr val="5E7085"/>
                </a:solidFill>
                <a:latin typeface="Aptos"/>
              </a:rPr>
              <a:t>A model may still add unsupported details despite instructions.</a:t>
            </a:r>
          </a:p>
        </p:txBody>
      </p:sp>
      <p:sp>
        <p:nvSpPr>
          <p:cNvPr id="14" name="Rounded Rectangle 13"/>
          <p:cNvSpPr/>
          <p:nvPr/>
        </p:nvSpPr>
        <p:spPr>
          <a:xfrm>
            <a:off x="8001000" y="1417320"/>
            <a:ext cx="3429000" cy="1874519"/>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01000" y="1417320"/>
            <a:ext cx="73152" cy="1874519"/>
          </a:xfrm>
          <a:prstGeom prst="rect">
            <a:avLst/>
          </a:prstGeom>
          <a:solidFill>
            <a:srgbClr val="F5B744"/>
          </a:solidFill>
          <a:ln>
            <a:solidFill>
              <a:srgbClr val="F5B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02168" y="1581912"/>
            <a:ext cx="3063240" cy="347472"/>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Source limitations</a:t>
            </a:r>
          </a:p>
        </p:txBody>
      </p:sp>
      <p:sp>
        <p:nvSpPr>
          <p:cNvPr id="17" name="TextBox 16"/>
          <p:cNvSpPr txBox="1"/>
          <p:nvPr/>
        </p:nvSpPr>
        <p:spPr>
          <a:xfrm>
            <a:off x="8202168" y="2029968"/>
            <a:ext cx="3044952" cy="1124712"/>
          </a:xfrm>
          <a:prstGeom prst="rect">
            <a:avLst/>
          </a:prstGeom>
          <a:noFill/>
        </p:spPr>
        <p:txBody>
          <a:bodyPr wrap="square" lIns="27432" rIns="27432" tIns="27432" bIns="27432" anchor="t">
            <a:spAutoFit/>
          </a:bodyPr>
          <a:lstStyle/>
          <a:p>
            <a:pPr algn="l">
              <a:spcAft>
                <a:spcPts val="0"/>
              </a:spcAft>
            </a:pPr>
            <a:r>
              <a:rPr sz="1500" b="0" i="0">
                <a:solidFill>
                  <a:srgbClr val="5E7085"/>
                </a:solidFill>
                <a:latin typeface="Aptos"/>
              </a:rPr>
              <a:t>Outdated or biased documents can lead to poor answers.</a:t>
            </a:r>
          </a:p>
        </p:txBody>
      </p:sp>
      <p:sp>
        <p:nvSpPr>
          <p:cNvPr id="18" name="Rounded Rectangle 17"/>
          <p:cNvSpPr/>
          <p:nvPr/>
        </p:nvSpPr>
        <p:spPr>
          <a:xfrm>
            <a:off x="777240" y="3657600"/>
            <a:ext cx="5074920" cy="141732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3657600"/>
            <a:ext cx="73152" cy="1417320"/>
          </a:xfrm>
          <a:prstGeom prst="rect">
            <a:avLst/>
          </a:prstGeom>
          <a:solidFill>
            <a:srgbClr val="182F52"/>
          </a:solidFill>
          <a:ln>
            <a:solidFill>
              <a:srgbClr val="182F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3822191"/>
            <a:ext cx="4709159" cy="347472"/>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Technical dependencies</a:t>
            </a:r>
          </a:p>
        </p:txBody>
      </p:sp>
      <p:sp>
        <p:nvSpPr>
          <p:cNvPr id="21" name="TextBox 20"/>
          <p:cNvSpPr txBox="1"/>
          <p:nvPr/>
        </p:nvSpPr>
        <p:spPr>
          <a:xfrm>
            <a:off x="978408" y="4270248"/>
            <a:ext cx="4690872" cy="667512"/>
          </a:xfrm>
          <a:prstGeom prst="rect">
            <a:avLst/>
          </a:prstGeom>
          <a:noFill/>
        </p:spPr>
        <p:txBody>
          <a:bodyPr wrap="square" lIns="27432" rIns="27432" tIns="27432" bIns="27432" anchor="t">
            <a:spAutoFit/>
          </a:bodyPr>
          <a:lstStyle/>
          <a:p>
            <a:pPr algn="l">
              <a:spcAft>
                <a:spcPts val="0"/>
              </a:spcAft>
            </a:pPr>
            <a:r>
              <a:rPr sz="1400" b="0" i="0">
                <a:solidFill>
                  <a:srgbClr val="5E7085"/>
                </a:solidFill>
                <a:latin typeface="Aptos"/>
              </a:rPr>
              <a:t>Model APIs, embedding compatibility, indexing and deployment require configuration and testing.</a:t>
            </a:r>
          </a:p>
        </p:txBody>
      </p:sp>
      <p:sp>
        <p:nvSpPr>
          <p:cNvPr id="22" name="Rounded Rectangle 21"/>
          <p:cNvSpPr/>
          <p:nvPr/>
        </p:nvSpPr>
        <p:spPr>
          <a:xfrm>
            <a:off x="6217920" y="3657600"/>
            <a:ext cx="5074920" cy="141732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3657600"/>
            <a:ext cx="73152" cy="1417320"/>
          </a:xfrm>
          <a:prstGeom prst="rect">
            <a:avLst/>
          </a:prstGeom>
          <a:solidFill>
            <a:srgbClr val="31916A"/>
          </a:solidFill>
          <a:ln>
            <a:solidFill>
              <a:srgbClr val="3191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822191"/>
            <a:ext cx="4709159" cy="347472"/>
          </a:xfrm>
          <a:prstGeom prst="rect">
            <a:avLst/>
          </a:prstGeom>
          <a:noFill/>
        </p:spPr>
        <p:txBody>
          <a:bodyPr wrap="square" lIns="27432" rIns="27432" tIns="27432" bIns="27432" anchor="t">
            <a:spAutoFit/>
          </a:bodyPr>
          <a:lstStyle/>
          <a:p>
            <a:pPr algn="l">
              <a:spcAft>
                <a:spcPts val="0"/>
              </a:spcAft>
            </a:pPr>
            <a:r>
              <a:rPr sz="1700" b="1" i="0">
                <a:solidFill>
                  <a:srgbClr val="0F1F3A"/>
                </a:solidFill>
                <a:latin typeface="Aptos"/>
              </a:rPr>
              <a:t>Clinical limitations</a:t>
            </a:r>
          </a:p>
        </p:txBody>
      </p:sp>
      <p:sp>
        <p:nvSpPr>
          <p:cNvPr id="25" name="TextBox 24"/>
          <p:cNvSpPr txBox="1"/>
          <p:nvPr/>
        </p:nvSpPr>
        <p:spPr>
          <a:xfrm>
            <a:off x="6419088" y="4270248"/>
            <a:ext cx="4690872" cy="667512"/>
          </a:xfrm>
          <a:prstGeom prst="rect">
            <a:avLst/>
          </a:prstGeom>
          <a:noFill/>
        </p:spPr>
        <p:txBody>
          <a:bodyPr wrap="square" lIns="27432" rIns="27432" tIns="27432" bIns="27432" anchor="t">
            <a:spAutoFit/>
          </a:bodyPr>
          <a:lstStyle/>
          <a:p>
            <a:pPr algn="l">
              <a:spcAft>
                <a:spcPts val="0"/>
              </a:spcAft>
            </a:pPr>
            <a:r>
              <a:rPr sz="1400" b="0" i="0">
                <a:solidFill>
                  <a:srgbClr val="5E7085"/>
                </a:solidFill>
                <a:latin typeface="Aptos"/>
              </a:rPr>
              <a:t>No clinical validation is claimed; human oversight is essential.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9FC"/>
        </a:solidFill>
        <a:effectLst/>
      </p:bgPr>
    </p:bg>
    <p:spTree>
      <p:nvGrpSpPr>
        <p:cNvPr id="1" name=""/>
        <p:cNvGrpSpPr/>
        <p:nvPr/>
      </p:nvGrpSpPr>
      <p:grpSpPr/>
      <p:sp>
        <p:nvSpPr>
          <p:cNvPr id="2" name="TextBox 1"/>
          <p:cNvSpPr txBox="1"/>
          <p:nvPr/>
        </p:nvSpPr>
        <p:spPr>
          <a:xfrm>
            <a:off x="594360" y="347472"/>
            <a:ext cx="10789920" cy="502920"/>
          </a:xfrm>
          <a:prstGeom prst="rect">
            <a:avLst/>
          </a:prstGeom>
          <a:noFill/>
        </p:spPr>
        <p:txBody>
          <a:bodyPr wrap="square" lIns="27432" rIns="27432" tIns="27432" bIns="27432" anchor="t">
            <a:spAutoFit/>
          </a:bodyPr>
          <a:lstStyle/>
          <a:p>
            <a:pPr algn="l">
              <a:spcAft>
                <a:spcPts val="0"/>
              </a:spcAft>
            </a:pPr>
            <a:r>
              <a:rPr sz="2700" b="1" i="0">
                <a:solidFill>
                  <a:srgbClr val="0F1F3A"/>
                </a:solidFill>
                <a:latin typeface="Aptos"/>
              </a:rPr>
              <a:t>Future Enhancements</a:t>
            </a:r>
          </a:p>
        </p:txBody>
      </p:sp>
      <p:sp>
        <p:nvSpPr>
          <p:cNvPr id="3" name="Rectangle 2"/>
          <p:cNvSpPr/>
          <p:nvPr/>
        </p:nvSpPr>
        <p:spPr>
          <a:xfrm>
            <a:off x="612648" y="960120"/>
            <a:ext cx="713232" cy="50292"/>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18320" y="438912"/>
            <a:ext cx="2057400" cy="274320"/>
          </a:xfrm>
          <a:prstGeom prst="rect">
            <a:avLst/>
          </a:prstGeom>
          <a:noFill/>
        </p:spPr>
        <p:txBody>
          <a:bodyPr wrap="square" lIns="27432" rIns="27432" tIns="27432" bIns="27432" anchor="t">
            <a:spAutoFit/>
          </a:bodyPr>
          <a:lstStyle/>
          <a:p>
            <a:pPr algn="r">
              <a:spcAft>
                <a:spcPts val="0"/>
              </a:spcAft>
            </a:pPr>
            <a:r>
              <a:rPr sz="900" b="1" i="0">
                <a:solidFill>
                  <a:srgbClr val="00A6A6"/>
                </a:solidFill>
                <a:latin typeface="Aptos"/>
              </a:rPr>
              <a:t>NEXT STEPS</a:t>
            </a:r>
          </a:p>
        </p:txBody>
      </p:sp>
      <p:sp>
        <p:nvSpPr>
          <p:cNvPr id="5" name="TextBox 4"/>
          <p:cNvSpPr txBox="1"/>
          <p:nvPr/>
        </p:nvSpPr>
        <p:spPr>
          <a:xfrm>
            <a:off x="9692640" y="6510528"/>
            <a:ext cx="1920240" cy="182880"/>
          </a:xfrm>
          <a:prstGeom prst="rect">
            <a:avLst/>
          </a:prstGeom>
          <a:noFill/>
        </p:spPr>
        <p:txBody>
          <a:bodyPr wrap="square" lIns="27432" rIns="27432" tIns="27432" bIns="27432" anchor="t">
            <a:spAutoFit/>
          </a:bodyPr>
          <a:lstStyle/>
          <a:p>
            <a:pPr algn="r">
              <a:spcAft>
                <a:spcPts val="0"/>
              </a:spcAft>
            </a:pPr>
            <a:r>
              <a:rPr sz="900" b="0" i="0">
                <a:solidFill>
                  <a:srgbClr val="5E7085"/>
                </a:solidFill>
                <a:latin typeface="Aptos"/>
              </a:rPr>
              <a:t>19  |  CAREBOT</a:t>
            </a:r>
          </a:p>
        </p:txBody>
      </p:sp>
      <p:sp>
        <p:nvSpPr>
          <p:cNvPr id="6" name="Rounded Rectangle 5"/>
          <p:cNvSpPr/>
          <p:nvPr/>
        </p:nvSpPr>
        <p:spPr>
          <a:xfrm>
            <a:off x="822960" y="1325880"/>
            <a:ext cx="5166360" cy="118872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1508760"/>
            <a:ext cx="502920" cy="292608"/>
          </a:xfrm>
          <a:prstGeom prst="rect">
            <a:avLst/>
          </a:prstGeom>
          <a:noFill/>
        </p:spPr>
        <p:txBody>
          <a:bodyPr wrap="square" lIns="27432" rIns="27432" tIns="27432" bIns="27432" anchor="t">
            <a:spAutoFit/>
          </a:bodyPr>
          <a:lstStyle/>
          <a:p>
            <a:pPr algn="l">
              <a:spcAft>
                <a:spcPts val="0"/>
              </a:spcAft>
            </a:pPr>
            <a:r>
              <a:rPr sz="1300" b="1" i="0">
                <a:solidFill>
                  <a:srgbClr val="00A6A6"/>
                </a:solidFill>
                <a:latin typeface="Aptos"/>
              </a:rPr>
              <a:t>01</a:t>
            </a:r>
          </a:p>
        </p:txBody>
      </p:sp>
      <p:sp>
        <p:nvSpPr>
          <p:cNvPr id="8" name="TextBox 7"/>
          <p:cNvSpPr txBox="1"/>
          <p:nvPr/>
        </p:nvSpPr>
        <p:spPr>
          <a:xfrm>
            <a:off x="1600200" y="1463039"/>
            <a:ext cx="4069080" cy="310896"/>
          </a:xfrm>
          <a:prstGeom prst="rect">
            <a:avLst/>
          </a:prstGeom>
          <a:noFill/>
        </p:spPr>
        <p:txBody>
          <a:bodyPr wrap="square" lIns="27432" rIns="27432" tIns="27432" bIns="27432" anchor="t">
            <a:spAutoFit/>
          </a:bodyPr>
          <a:lstStyle/>
          <a:p>
            <a:pPr algn="l">
              <a:spcAft>
                <a:spcPts val="0"/>
              </a:spcAft>
            </a:pPr>
            <a:r>
              <a:rPr sz="1600" b="1" i="0">
                <a:solidFill>
                  <a:srgbClr val="0F1F3A"/>
                </a:solidFill>
                <a:latin typeface="Aptos"/>
              </a:rPr>
              <a:t>Improve retrieval</a:t>
            </a:r>
          </a:p>
        </p:txBody>
      </p:sp>
      <p:sp>
        <p:nvSpPr>
          <p:cNvPr id="9" name="TextBox 8"/>
          <p:cNvSpPr txBox="1"/>
          <p:nvPr/>
        </p:nvSpPr>
        <p:spPr>
          <a:xfrm>
            <a:off x="1600200" y="1837943"/>
            <a:ext cx="4069080" cy="457200"/>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Tune chunk size, overlap, metadata and ranking.</a:t>
            </a:r>
          </a:p>
        </p:txBody>
      </p:sp>
      <p:sp>
        <p:nvSpPr>
          <p:cNvPr id="10" name="Rounded Rectangle 9"/>
          <p:cNvSpPr/>
          <p:nvPr/>
        </p:nvSpPr>
        <p:spPr>
          <a:xfrm>
            <a:off x="6400800" y="1325880"/>
            <a:ext cx="5166360" cy="118872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65392" y="1508760"/>
            <a:ext cx="502920" cy="292608"/>
          </a:xfrm>
          <a:prstGeom prst="rect">
            <a:avLst/>
          </a:prstGeom>
          <a:noFill/>
        </p:spPr>
        <p:txBody>
          <a:bodyPr wrap="square" lIns="27432" rIns="27432" tIns="27432" bIns="27432" anchor="t">
            <a:spAutoFit/>
          </a:bodyPr>
          <a:lstStyle/>
          <a:p>
            <a:pPr algn="l">
              <a:spcAft>
                <a:spcPts val="0"/>
              </a:spcAft>
            </a:pPr>
            <a:r>
              <a:rPr sz="1300" b="1" i="0">
                <a:solidFill>
                  <a:srgbClr val="00A6A6"/>
                </a:solidFill>
                <a:latin typeface="Aptos"/>
              </a:rPr>
              <a:t>02</a:t>
            </a:r>
          </a:p>
        </p:txBody>
      </p:sp>
      <p:sp>
        <p:nvSpPr>
          <p:cNvPr id="12" name="TextBox 11"/>
          <p:cNvSpPr txBox="1"/>
          <p:nvPr/>
        </p:nvSpPr>
        <p:spPr>
          <a:xfrm>
            <a:off x="7178040" y="1463039"/>
            <a:ext cx="4069080" cy="310896"/>
          </a:xfrm>
          <a:prstGeom prst="rect">
            <a:avLst/>
          </a:prstGeom>
          <a:noFill/>
        </p:spPr>
        <p:txBody>
          <a:bodyPr wrap="square" lIns="27432" rIns="27432" tIns="27432" bIns="27432" anchor="t">
            <a:spAutoFit/>
          </a:bodyPr>
          <a:lstStyle/>
          <a:p>
            <a:pPr algn="l">
              <a:spcAft>
                <a:spcPts val="0"/>
              </a:spcAft>
            </a:pPr>
            <a:r>
              <a:rPr sz="1600" b="1" i="0">
                <a:solidFill>
                  <a:srgbClr val="0F1F3A"/>
                </a:solidFill>
                <a:latin typeface="Aptos"/>
              </a:rPr>
              <a:t>Show citations</a:t>
            </a:r>
          </a:p>
        </p:txBody>
      </p:sp>
      <p:sp>
        <p:nvSpPr>
          <p:cNvPr id="13" name="TextBox 12"/>
          <p:cNvSpPr txBox="1"/>
          <p:nvPr/>
        </p:nvSpPr>
        <p:spPr>
          <a:xfrm>
            <a:off x="7178040" y="1837943"/>
            <a:ext cx="4069080" cy="457200"/>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Display source title and relevant passage with each answer.</a:t>
            </a:r>
          </a:p>
        </p:txBody>
      </p:sp>
      <p:sp>
        <p:nvSpPr>
          <p:cNvPr id="14" name="Rounded Rectangle 13"/>
          <p:cNvSpPr/>
          <p:nvPr/>
        </p:nvSpPr>
        <p:spPr>
          <a:xfrm>
            <a:off x="822960" y="2807208"/>
            <a:ext cx="5166360" cy="118872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2990088"/>
            <a:ext cx="502920" cy="292608"/>
          </a:xfrm>
          <a:prstGeom prst="rect">
            <a:avLst/>
          </a:prstGeom>
          <a:noFill/>
        </p:spPr>
        <p:txBody>
          <a:bodyPr wrap="square" lIns="27432" rIns="27432" tIns="27432" bIns="27432" anchor="t">
            <a:spAutoFit/>
          </a:bodyPr>
          <a:lstStyle/>
          <a:p>
            <a:pPr algn="l">
              <a:spcAft>
                <a:spcPts val="0"/>
              </a:spcAft>
            </a:pPr>
            <a:r>
              <a:rPr sz="1300" b="1" i="0">
                <a:solidFill>
                  <a:srgbClr val="00A6A6"/>
                </a:solidFill>
                <a:latin typeface="Aptos"/>
              </a:rPr>
              <a:t>03</a:t>
            </a:r>
          </a:p>
        </p:txBody>
      </p:sp>
      <p:sp>
        <p:nvSpPr>
          <p:cNvPr id="16" name="TextBox 15"/>
          <p:cNvSpPr txBox="1"/>
          <p:nvPr/>
        </p:nvSpPr>
        <p:spPr>
          <a:xfrm>
            <a:off x="1600200" y="2944368"/>
            <a:ext cx="4069080" cy="310896"/>
          </a:xfrm>
          <a:prstGeom prst="rect">
            <a:avLst/>
          </a:prstGeom>
          <a:noFill/>
        </p:spPr>
        <p:txBody>
          <a:bodyPr wrap="square" lIns="27432" rIns="27432" tIns="27432" bIns="27432" anchor="t">
            <a:spAutoFit/>
          </a:bodyPr>
          <a:lstStyle/>
          <a:p>
            <a:pPr algn="l">
              <a:spcAft>
                <a:spcPts val="0"/>
              </a:spcAft>
            </a:pPr>
            <a:r>
              <a:rPr sz="1600" b="1" i="0">
                <a:solidFill>
                  <a:srgbClr val="0F1F3A"/>
                </a:solidFill>
                <a:latin typeface="Aptos"/>
              </a:rPr>
              <a:t>Expand evaluation</a:t>
            </a:r>
          </a:p>
        </p:txBody>
      </p:sp>
      <p:sp>
        <p:nvSpPr>
          <p:cNvPr id="17" name="TextBox 16"/>
          <p:cNvSpPr txBox="1"/>
          <p:nvPr/>
        </p:nvSpPr>
        <p:spPr>
          <a:xfrm>
            <a:off x="1600200" y="3319272"/>
            <a:ext cx="4069080" cy="457200"/>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Build a reviewed question set and measure errors systematically.</a:t>
            </a:r>
          </a:p>
        </p:txBody>
      </p:sp>
      <p:sp>
        <p:nvSpPr>
          <p:cNvPr id="18" name="Rounded Rectangle 17"/>
          <p:cNvSpPr/>
          <p:nvPr/>
        </p:nvSpPr>
        <p:spPr>
          <a:xfrm>
            <a:off x="6400800" y="2807208"/>
            <a:ext cx="5166360" cy="118872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2990088"/>
            <a:ext cx="502920" cy="292608"/>
          </a:xfrm>
          <a:prstGeom prst="rect">
            <a:avLst/>
          </a:prstGeom>
          <a:noFill/>
        </p:spPr>
        <p:txBody>
          <a:bodyPr wrap="square" lIns="27432" rIns="27432" tIns="27432" bIns="27432" anchor="t">
            <a:spAutoFit/>
          </a:bodyPr>
          <a:lstStyle/>
          <a:p>
            <a:pPr algn="l">
              <a:spcAft>
                <a:spcPts val="0"/>
              </a:spcAft>
            </a:pPr>
            <a:r>
              <a:rPr sz="1300" b="1" i="0">
                <a:solidFill>
                  <a:srgbClr val="00A6A6"/>
                </a:solidFill>
                <a:latin typeface="Aptos"/>
              </a:rPr>
              <a:t>04</a:t>
            </a:r>
          </a:p>
        </p:txBody>
      </p:sp>
      <p:sp>
        <p:nvSpPr>
          <p:cNvPr id="20" name="TextBox 19"/>
          <p:cNvSpPr txBox="1"/>
          <p:nvPr/>
        </p:nvSpPr>
        <p:spPr>
          <a:xfrm>
            <a:off x="7178040" y="2944368"/>
            <a:ext cx="4069080" cy="310896"/>
          </a:xfrm>
          <a:prstGeom prst="rect">
            <a:avLst/>
          </a:prstGeom>
          <a:noFill/>
        </p:spPr>
        <p:txBody>
          <a:bodyPr wrap="square" lIns="27432" rIns="27432" tIns="27432" bIns="27432" anchor="t">
            <a:spAutoFit/>
          </a:bodyPr>
          <a:lstStyle/>
          <a:p>
            <a:pPr algn="l">
              <a:spcAft>
                <a:spcPts val="0"/>
              </a:spcAft>
            </a:pPr>
            <a:r>
              <a:rPr sz="1600" b="1" i="0">
                <a:solidFill>
                  <a:srgbClr val="0F1F3A"/>
                </a:solidFill>
                <a:latin typeface="Aptos"/>
              </a:rPr>
              <a:t>Improve interface</a:t>
            </a:r>
          </a:p>
        </p:txBody>
      </p:sp>
      <p:sp>
        <p:nvSpPr>
          <p:cNvPr id="21" name="TextBox 20"/>
          <p:cNvSpPr txBox="1"/>
          <p:nvPr/>
        </p:nvSpPr>
        <p:spPr>
          <a:xfrm>
            <a:off x="7178040" y="3319272"/>
            <a:ext cx="4069080" cy="457200"/>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Add conversation history controls and accessibility improvements.</a:t>
            </a:r>
          </a:p>
        </p:txBody>
      </p:sp>
      <p:sp>
        <p:nvSpPr>
          <p:cNvPr id="22" name="Rounded Rectangle 21"/>
          <p:cNvSpPr/>
          <p:nvPr/>
        </p:nvSpPr>
        <p:spPr>
          <a:xfrm>
            <a:off x="822960" y="4288536"/>
            <a:ext cx="5166360" cy="118872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2" y="4471416"/>
            <a:ext cx="502920" cy="292608"/>
          </a:xfrm>
          <a:prstGeom prst="rect">
            <a:avLst/>
          </a:prstGeom>
          <a:noFill/>
        </p:spPr>
        <p:txBody>
          <a:bodyPr wrap="square" lIns="27432" rIns="27432" tIns="27432" bIns="27432" anchor="t">
            <a:spAutoFit/>
          </a:bodyPr>
          <a:lstStyle/>
          <a:p>
            <a:pPr algn="l">
              <a:spcAft>
                <a:spcPts val="0"/>
              </a:spcAft>
            </a:pPr>
            <a:r>
              <a:rPr sz="1300" b="1" i="0">
                <a:solidFill>
                  <a:srgbClr val="00A6A6"/>
                </a:solidFill>
                <a:latin typeface="Aptos"/>
              </a:rPr>
              <a:t>05</a:t>
            </a:r>
          </a:p>
        </p:txBody>
      </p:sp>
      <p:sp>
        <p:nvSpPr>
          <p:cNvPr id="24" name="TextBox 23"/>
          <p:cNvSpPr txBox="1"/>
          <p:nvPr/>
        </p:nvSpPr>
        <p:spPr>
          <a:xfrm>
            <a:off x="1600200" y="4425696"/>
            <a:ext cx="4069080" cy="310896"/>
          </a:xfrm>
          <a:prstGeom prst="rect">
            <a:avLst/>
          </a:prstGeom>
          <a:noFill/>
        </p:spPr>
        <p:txBody>
          <a:bodyPr wrap="square" lIns="27432" rIns="27432" tIns="27432" bIns="27432" anchor="t">
            <a:spAutoFit/>
          </a:bodyPr>
          <a:lstStyle/>
          <a:p>
            <a:pPr algn="l">
              <a:spcAft>
                <a:spcPts val="0"/>
              </a:spcAft>
            </a:pPr>
            <a:r>
              <a:rPr sz="1600" b="1" i="0">
                <a:solidFill>
                  <a:srgbClr val="0F1F3A"/>
                </a:solidFill>
                <a:latin typeface="Aptos"/>
              </a:rPr>
              <a:t>Strengthen safeguards</a:t>
            </a:r>
          </a:p>
        </p:txBody>
      </p:sp>
      <p:sp>
        <p:nvSpPr>
          <p:cNvPr id="25" name="TextBox 24"/>
          <p:cNvSpPr txBox="1"/>
          <p:nvPr/>
        </p:nvSpPr>
        <p:spPr>
          <a:xfrm>
            <a:off x="1600200" y="4800600"/>
            <a:ext cx="4069080" cy="457200"/>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Add stronger refusal checks, privacy controls and audit logging.</a:t>
            </a:r>
          </a:p>
        </p:txBody>
      </p:sp>
      <p:sp>
        <p:nvSpPr>
          <p:cNvPr id="26" name="Rounded Rectangle 25"/>
          <p:cNvSpPr/>
          <p:nvPr/>
        </p:nvSpPr>
        <p:spPr>
          <a:xfrm>
            <a:off x="6400800" y="4288536"/>
            <a:ext cx="5166360" cy="1188720"/>
          </a:xfrm>
          <a:prstGeom prst="roundRect">
            <a:avLst/>
          </a:prstGeom>
          <a:solidFill>
            <a:srgbClr val="FFFFFF"/>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65392" y="4471416"/>
            <a:ext cx="502920" cy="292608"/>
          </a:xfrm>
          <a:prstGeom prst="rect">
            <a:avLst/>
          </a:prstGeom>
          <a:noFill/>
        </p:spPr>
        <p:txBody>
          <a:bodyPr wrap="square" lIns="27432" rIns="27432" tIns="27432" bIns="27432" anchor="t">
            <a:spAutoFit/>
          </a:bodyPr>
          <a:lstStyle/>
          <a:p>
            <a:pPr algn="l">
              <a:spcAft>
                <a:spcPts val="0"/>
              </a:spcAft>
            </a:pPr>
            <a:r>
              <a:rPr sz="1300" b="1" i="0">
                <a:solidFill>
                  <a:srgbClr val="00A6A6"/>
                </a:solidFill>
                <a:latin typeface="Aptos"/>
              </a:rPr>
              <a:t>06</a:t>
            </a:r>
          </a:p>
        </p:txBody>
      </p:sp>
      <p:sp>
        <p:nvSpPr>
          <p:cNvPr id="28" name="TextBox 27"/>
          <p:cNvSpPr txBox="1"/>
          <p:nvPr/>
        </p:nvSpPr>
        <p:spPr>
          <a:xfrm>
            <a:off x="7178040" y="4425696"/>
            <a:ext cx="4069080" cy="310896"/>
          </a:xfrm>
          <a:prstGeom prst="rect">
            <a:avLst/>
          </a:prstGeom>
          <a:noFill/>
        </p:spPr>
        <p:txBody>
          <a:bodyPr wrap="square" lIns="27432" rIns="27432" tIns="27432" bIns="27432" anchor="t">
            <a:spAutoFit/>
          </a:bodyPr>
          <a:lstStyle/>
          <a:p>
            <a:pPr algn="l">
              <a:spcAft>
                <a:spcPts val="0"/>
              </a:spcAft>
            </a:pPr>
            <a:r>
              <a:rPr sz="1600" b="1" i="0">
                <a:solidFill>
                  <a:srgbClr val="0F1F3A"/>
                </a:solidFill>
                <a:latin typeface="Aptos"/>
              </a:rPr>
              <a:t>Review before deployment</a:t>
            </a:r>
          </a:p>
        </p:txBody>
      </p:sp>
      <p:sp>
        <p:nvSpPr>
          <p:cNvPr id="29" name="TextBox 28"/>
          <p:cNvSpPr txBox="1"/>
          <p:nvPr/>
        </p:nvSpPr>
        <p:spPr>
          <a:xfrm>
            <a:off x="7178040" y="4800600"/>
            <a:ext cx="4069080" cy="457200"/>
          </a:xfrm>
          <a:prstGeom prst="rect">
            <a:avLst/>
          </a:prstGeom>
          <a:noFill/>
        </p:spPr>
        <p:txBody>
          <a:bodyPr wrap="square" lIns="27432" rIns="27432" tIns="27432" bIns="27432" anchor="t">
            <a:spAutoFit/>
          </a:bodyPr>
          <a:lstStyle/>
          <a:p>
            <a:pPr algn="l">
              <a:spcAft>
                <a:spcPts val="0"/>
              </a:spcAft>
            </a:pPr>
            <a:r>
              <a:rPr sz="1300" b="0" i="0">
                <a:solidFill>
                  <a:srgbClr val="5E7085"/>
                </a:solidFill>
                <a:latin typeface="Aptos"/>
              </a:rPr>
              <a:t>Seek clinical, security and regulatory assessment.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F3A"/>
        </a:solidFill>
        <a:effectLst/>
      </p:bgPr>
    </p:bg>
    <p:spTree>
      <p:nvGrpSpPr>
        <p:cNvPr id="1" name=""/>
        <p:cNvGrpSpPr/>
        <p:nvPr/>
      </p:nvGrpSpPr>
      <p:grpSpPr/>
      <p:sp>
        <p:nvSpPr>
          <p:cNvPr id="2" name="Oval 1"/>
          <p:cNvSpPr/>
          <p:nvPr/>
        </p:nvSpPr>
        <p:spPr>
          <a:xfrm>
            <a:off x="8961120" y="-548640"/>
            <a:ext cx="3840480" cy="3840480"/>
          </a:xfrm>
          <a:prstGeom prst="ellipse">
            <a:avLst/>
          </a:prstGeom>
          <a:solidFill>
            <a:srgbClr val="182F52"/>
          </a:solidFill>
          <a:ln>
            <a:solidFill>
              <a:srgbClr val="182F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509760" y="4297680"/>
            <a:ext cx="3291840" cy="3291840"/>
          </a:xfrm>
          <a:prstGeom prst="ellipse">
            <a:avLst/>
          </a:prstGeom>
          <a:solidFill>
            <a:srgbClr val="15465E"/>
          </a:solidFill>
          <a:ln>
            <a:solidFill>
              <a:srgbClr val="1546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31520"/>
            <a:ext cx="2743200" cy="320040"/>
          </a:xfrm>
          <a:prstGeom prst="rect">
            <a:avLst/>
          </a:prstGeom>
          <a:noFill/>
        </p:spPr>
        <p:txBody>
          <a:bodyPr wrap="square" lIns="27432" rIns="27432" tIns="27432" bIns="27432" anchor="t">
            <a:spAutoFit/>
          </a:bodyPr>
          <a:lstStyle/>
          <a:p>
            <a:pPr algn="l">
              <a:spcAft>
                <a:spcPts val="0"/>
              </a:spcAft>
            </a:pPr>
            <a:r>
              <a:rPr sz="1200" b="1" i="0">
                <a:solidFill>
                  <a:srgbClr val="69DAE1"/>
                </a:solidFill>
                <a:latin typeface="Aptos"/>
              </a:rPr>
              <a:t>CONCLUSION</a:t>
            </a:r>
          </a:p>
        </p:txBody>
      </p:sp>
      <p:sp>
        <p:nvSpPr>
          <p:cNvPr id="5" name="TextBox 4"/>
          <p:cNvSpPr txBox="1"/>
          <p:nvPr/>
        </p:nvSpPr>
        <p:spPr>
          <a:xfrm>
            <a:off x="822960" y="1325880"/>
            <a:ext cx="7863840" cy="1371600"/>
          </a:xfrm>
          <a:prstGeom prst="rect">
            <a:avLst/>
          </a:prstGeom>
          <a:noFill/>
        </p:spPr>
        <p:txBody>
          <a:bodyPr wrap="square" lIns="27432" rIns="27432" tIns="27432" bIns="27432" anchor="t">
            <a:spAutoFit/>
          </a:bodyPr>
          <a:lstStyle/>
          <a:p>
            <a:pPr algn="l">
              <a:spcAft>
                <a:spcPts val="0"/>
              </a:spcAft>
            </a:pPr>
            <a:r>
              <a:rPr sz="3000" b="1" i="0">
                <a:solidFill>
                  <a:srgbClr val="FFFFFF"/>
                </a:solidFill>
                <a:latin typeface="Aptos"/>
              </a:rPr>
              <a:t>Make medical information
more accessible — responsibly.</a:t>
            </a:r>
          </a:p>
        </p:txBody>
      </p:sp>
      <p:sp>
        <p:nvSpPr>
          <p:cNvPr id="6" name="Rectangle 5"/>
          <p:cNvSpPr/>
          <p:nvPr/>
        </p:nvSpPr>
        <p:spPr>
          <a:xfrm>
            <a:off x="841248" y="2971800"/>
            <a:ext cx="822960" cy="64008"/>
          </a:xfrm>
          <a:prstGeom prst="rect">
            <a:avLst/>
          </a:prstGeom>
          <a:solidFill>
            <a:srgbClr val="00A6A6"/>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429000"/>
            <a:ext cx="7772400" cy="2103120"/>
          </a:xfrm>
          <a:prstGeom prst="rect">
            <a:avLst/>
          </a:prstGeom>
          <a:noFill/>
        </p:spPr>
        <p:txBody>
          <a:bodyPr wrap="square" lIns="18288" rIns="18288" tIns="18288" bIns="18288">
            <a:spAutoFit/>
          </a:bodyPr>
          <a:lstStyle/>
          <a:p>
            <a:pPr>
              <a:spcAft>
                <a:spcPts val="900"/>
              </a:spcAft>
              <a:defRPr sz="1600">
                <a:solidFill>
                  <a:srgbClr val="FFFFFF"/>
                </a:solidFill>
                <a:latin typeface="Aptos"/>
              </a:defRPr>
            </a:pPr>
            <a:r>
              <a:rPr sz="1700" b="1">
                <a:solidFill>
                  <a:srgbClr val="69DAE1"/>
                </a:solidFill>
                <a:latin typeface="Aptos"/>
              </a:rPr>
              <a:t>•  </a:t>
            </a:r>
            <a:r>
              <a:rPr sz="1600" b="1">
                <a:solidFill>
                  <a:srgbClr val="FFFFFF"/>
                </a:solidFill>
                <a:latin typeface="Aptos"/>
              </a:rPr>
              <a:t>RAG: </a:t>
            </a:r>
            <a:r>
              <a:rPr sz="1600">
                <a:solidFill>
                  <a:srgbClr val="FFFFFF"/>
                </a:solidFill>
                <a:latin typeface="Aptos"/>
              </a:rPr>
              <a:t>retrieves relevant passages before answer generation.</a:t>
            </a:r>
          </a:p>
          <a:p>
            <a:pPr>
              <a:spcAft>
                <a:spcPts val="900"/>
              </a:spcAft>
              <a:defRPr sz="1600">
                <a:solidFill>
                  <a:srgbClr val="FFFFFF"/>
                </a:solidFill>
                <a:latin typeface="Aptos"/>
              </a:defRPr>
            </a:pPr>
            <a:r>
              <a:rPr sz="1700" b="1">
                <a:solidFill>
                  <a:srgbClr val="69DAE1"/>
                </a:solidFill>
                <a:latin typeface="Aptos"/>
              </a:rPr>
              <a:t>•  </a:t>
            </a:r>
            <a:r>
              <a:rPr sz="1600" b="1">
                <a:solidFill>
                  <a:srgbClr val="FFFFFF"/>
                </a:solidFill>
                <a:latin typeface="Aptos"/>
              </a:rPr>
              <a:t>Cohere LLM: </a:t>
            </a:r>
            <a:r>
              <a:rPr sz="1600">
                <a:solidFill>
                  <a:srgbClr val="FFFFFF"/>
                </a:solidFill>
                <a:latin typeface="Aptos"/>
              </a:rPr>
              <a:t>drafts a response based on supplied context.</a:t>
            </a:r>
          </a:p>
          <a:p>
            <a:pPr>
              <a:spcAft>
                <a:spcPts val="900"/>
              </a:spcAft>
              <a:defRPr sz="1600">
                <a:solidFill>
                  <a:srgbClr val="FFFFFF"/>
                </a:solidFill>
                <a:latin typeface="Aptos"/>
              </a:defRPr>
            </a:pPr>
            <a:r>
              <a:rPr sz="1700" b="1">
                <a:solidFill>
                  <a:srgbClr val="69DAE1"/>
                </a:solidFill>
                <a:latin typeface="Aptos"/>
              </a:rPr>
              <a:t>•  </a:t>
            </a:r>
            <a:r>
              <a:rPr sz="1600" b="1">
                <a:solidFill>
                  <a:srgbClr val="FFFFFF"/>
                </a:solidFill>
                <a:latin typeface="Aptos"/>
              </a:rPr>
              <a:t>Safety: </a:t>
            </a:r>
            <a:r>
              <a:rPr sz="1600">
                <a:solidFill>
                  <a:srgbClr val="FFFFFF"/>
                </a:solidFill>
                <a:latin typeface="Aptos"/>
              </a:rPr>
              <a:t>limits unsupported answers and avoids personal medical advice.</a:t>
            </a:r>
          </a:p>
          <a:p>
            <a:pPr>
              <a:spcAft>
                <a:spcPts val="900"/>
              </a:spcAft>
              <a:defRPr sz="1600">
                <a:solidFill>
                  <a:srgbClr val="FFFFFF"/>
                </a:solidFill>
                <a:latin typeface="Aptos"/>
              </a:defRPr>
            </a:pPr>
            <a:r>
              <a:rPr sz="1700" b="1">
                <a:solidFill>
                  <a:srgbClr val="69DAE1"/>
                </a:solidFill>
                <a:latin typeface="Aptos"/>
              </a:rPr>
              <a:t>•  </a:t>
            </a:r>
            <a:r>
              <a:rPr sz="1600" b="1">
                <a:solidFill>
                  <a:srgbClr val="FFFFFF"/>
                </a:solidFill>
                <a:latin typeface="Aptos"/>
              </a:rPr>
              <a:t>Next step: </a:t>
            </a:r>
            <a:r>
              <a:rPr sz="1600">
                <a:solidFill>
                  <a:srgbClr val="FFFFFF"/>
                </a:solidFill>
                <a:latin typeface="Aptos"/>
              </a:rPr>
              <a:t>implement, test and review the proposed design before claiming results.</a:t>
            </a:r>
          </a:p>
        </p:txBody>
      </p:sp>
      <p:sp>
        <p:nvSpPr>
          <p:cNvPr id="8" name="TextBox 7"/>
          <p:cNvSpPr txBox="1"/>
          <p:nvPr/>
        </p:nvSpPr>
        <p:spPr>
          <a:xfrm>
            <a:off x="8321040" y="2834640"/>
            <a:ext cx="2560320" cy="502920"/>
          </a:xfrm>
          <a:prstGeom prst="rect">
            <a:avLst/>
          </a:prstGeom>
          <a:noFill/>
        </p:spPr>
        <p:txBody>
          <a:bodyPr wrap="square" lIns="27432" rIns="27432" tIns="27432" bIns="27432" anchor="t">
            <a:spAutoFit/>
          </a:bodyPr>
          <a:lstStyle/>
          <a:p>
            <a:pPr algn="ctr">
              <a:spcAft>
                <a:spcPts val="0"/>
              </a:spcAft>
            </a:pPr>
            <a:r>
              <a:rPr sz="2500" b="1" i="0">
                <a:solidFill>
                  <a:srgbClr val="69DAE1"/>
                </a:solidFill>
                <a:latin typeface="Aptos"/>
              </a:rPr>
              <a:t>Thank you</a:t>
            </a:r>
          </a:p>
        </p:txBody>
      </p:sp>
      <p:sp>
        <p:nvSpPr>
          <p:cNvPr id="9" name="TextBox 8"/>
          <p:cNvSpPr txBox="1"/>
          <p:nvPr/>
        </p:nvSpPr>
        <p:spPr>
          <a:xfrm>
            <a:off x="8321040" y="3474720"/>
            <a:ext cx="2560320" cy="411480"/>
          </a:xfrm>
          <a:prstGeom prst="rect">
            <a:avLst/>
          </a:prstGeom>
          <a:noFill/>
        </p:spPr>
        <p:txBody>
          <a:bodyPr wrap="square" lIns="27432" rIns="27432" tIns="27432" bIns="27432" anchor="t">
            <a:spAutoFit/>
          </a:bodyPr>
          <a:lstStyle/>
          <a:p>
            <a:pPr algn="ctr">
              <a:spcAft>
                <a:spcPts val="0"/>
              </a:spcAft>
            </a:pPr>
            <a:r>
              <a:rPr sz="1800" b="0" i="0">
                <a:solidFill>
                  <a:srgbClr val="FFFFFF"/>
                </a:solidFill>
                <a:latin typeface="Aptos"/>
              </a:rPr>
              <a:t>Questions?</a:t>
            </a:r>
          </a:p>
        </p:txBody>
      </p:sp>
      <p:sp>
        <p:nvSpPr>
          <p:cNvPr id="10" name="TextBox 9"/>
          <p:cNvSpPr txBox="1"/>
          <p:nvPr/>
        </p:nvSpPr>
        <p:spPr>
          <a:xfrm>
            <a:off x="868680" y="6217920"/>
            <a:ext cx="6035040" cy="228600"/>
          </a:xfrm>
          <a:prstGeom prst="rect">
            <a:avLst/>
          </a:prstGeom>
          <a:noFill/>
        </p:spPr>
        <p:txBody>
          <a:bodyPr wrap="square" lIns="27432" rIns="27432" tIns="27432" bIns="27432" anchor="t">
            <a:spAutoFit/>
          </a:bodyPr>
          <a:lstStyle/>
          <a:p>
            <a:pPr algn="l">
              <a:spcAft>
                <a:spcPts val="0"/>
              </a:spcAft>
            </a:pPr>
            <a:r>
              <a:rPr sz="1100" b="0" i="0">
                <a:solidFill>
                  <a:srgbClr val="CDDAE9"/>
                </a:solidFill>
                <a:latin typeface="Aptos"/>
              </a:rPr>
              <a:t>J. Muhammed Aarif  •  810023205044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